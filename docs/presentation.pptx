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tinafengfun/sycl-tl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B70</a:t>
            </a:r>
            <a:r>
              <a:rPr/>
              <a:t> </a:t>
            </a:r>
            <a:r>
              <a:rPr/>
              <a:t>GEMM</a:t>
            </a:r>
            <a:r>
              <a:rPr/>
              <a:t> </a:t>
            </a:r>
            <a:r>
              <a:rPr/>
              <a:t>Auto-Profiling</a:t>
            </a:r>
            <a:r>
              <a:rPr/>
              <a:t> </a:t>
            </a:r>
            <a:r>
              <a:rPr/>
              <a:t>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Intel</a:t>
            </a:r>
            <a:r>
              <a:rPr/>
              <a:t> </a:t>
            </a:r>
            <a:r>
              <a:rPr/>
              <a:t>Xe</a:t>
            </a:r>
            <a:r>
              <a:rPr/>
              <a:t> </a:t>
            </a:r>
            <a:r>
              <a:rPr/>
              <a:t>GPU</a:t>
            </a:r>
            <a:r>
              <a:rPr/>
              <a:t> </a:t>
            </a:r>
            <a:r>
              <a:rPr/>
              <a:t>(BMG</a:t>
            </a:r>
            <a:r>
              <a:rPr/>
              <a:t> </a:t>
            </a:r>
            <a:r>
              <a:rPr/>
              <a:t>G31)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github.com/tinafengfun/sycl-tla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B70</a:t>
            </a:r>
            <a:r>
              <a:rPr/>
              <a:t> </a:t>
            </a:r>
            <a:r>
              <a:rPr/>
              <a:t>GEMM</a:t>
            </a:r>
            <a:r>
              <a:rPr/>
              <a:t> </a:t>
            </a:r>
            <a:r>
              <a:rPr/>
              <a:t>Auto-Profiling</a:t>
            </a:r>
            <a:r>
              <a:rPr/>
              <a:t> </a:t>
            </a:r>
            <a:r>
              <a:rPr/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on Intel Xe GPU (BMG G31)</a:t>
            </a:r>
          </a:p>
          <a:p>
            <a:pPr lvl="1"/>
            <a:r>
              <a:rPr/>
              <a:t>1,772 kernel configurations screened</a:t>
            </a:r>
          </a:p>
          <a:p>
            <a:pPr lvl="1"/>
            <a:r>
              <a:rPr/>
              <a:t>154.9 TFLOPS peak (RRR)</a:t>
            </a:r>
          </a:p>
          <a:p>
            <a:pPr lvl="1"/>
            <a:r>
              <a:rPr/>
              <a:t>Fully automated catalog -&gt; compile -&gt; screen pipeline</a:t>
            </a:r>
          </a:p>
          <a:p>
            <a:pPr lvl="1"/>
            <a:r>
              <a:rPr/>
              <a:t>886 batches, GPU 0-3 round-robin</a:t>
            </a:r>
          </a:p>
          <a:p>
            <a:pPr lvl="1"/>
            <a:r>
              <a:rPr/>
              <a:t>Problem: M=8192, N=4096, K=1536, BF16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B70 GEMM Auto-Profiling Pipeline on Intel Xe GPU (BMG G31)</a:t>
            </a:r>
          </a:p>
          <a:p>
            <a:pPr lvl="1"/>
            <a:r>
              <a:rPr/>
              <a:t>1,772 kernel configurations screened</a:t>
            </a:r>
          </a:p>
          <a:p>
            <a:pPr lvl="1"/>
            <a:r>
              <a:rPr/>
              <a:t>154.9 TFLOPS peak (RRR layout)</a:t>
            </a:r>
          </a:p>
          <a:p>
            <a:pPr lvl="1"/>
            <a:r>
              <a:rPr/>
              <a:t>Fully automated catalog → compile → screen pipeline</a:t>
            </a:r>
          </a:p>
          <a:p>
            <a:pPr lvl="1"/>
            <a:r>
              <a:rPr/>
              <a:t>886 batches, GPU 0–3 round-robin execution</a:t>
            </a:r>
          </a:p>
          <a:p>
            <a:pPr lvl="1"/>
            <a:r>
              <a:rPr/>
              <a:t>Problem: M=8192, N=4096, K=1536, BF16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Profiler</a:t>
            </a:r>
            <a:r>
              <a:rPr/>
              <a:t> </a:t>
            </a: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┌──────────┐ ┌───────────┐ ┌──────────┐ ┌──────────┐</a:t>
            </a:r>
          </a:p>
          <a:p>
            <a:pPr lvl="0" marL="0" indent="0">
              <a:buNone/>
            </a:pPr>
            <a:r>
              <a:rPr/>
              <a:t>│ catalog │───→│ gen_mini │───→│ cmake │───→│ GPU │</a:t>
            </a:r>
          </a:p>
          <a:p>
            <a:pPr lvl="0" marL="0" indent="0">
              <a:buNone/>
            </a:pPr>
            <a:r>
              <a:rPr/>
              <a:t>│ .py │ │ _hpp.py │ │ + icpx │ │ screen │</a:t>
            </a:r>
          </a:p>
          <a:p>
            <a:pPr lvl="0" marL="0" indent="0">
              <a:buNone/>
            </a:pPr>
            <a:r>
              <a:rPr/>
              <a:t>│ enum │ │ per-batch │ │ link │ │ │</a:t>
            </a:r>
          </a:p>
          <a:p>
            <a:pPr lvl="0" marL="0" indent="0">
              <a:buNone/>
            </a:pPr>
            <a:r>
              <a:rPr/>
              <a:t>└──────────┘ └───────────┘ └──────────┘ └──────────┘</a:t>
            </a:r>
          </a:p>
          <a:p>
            <a:pPr lvl="0" marL="0" indent="0">
              <a:buNone/>
            </a:pPr>
            <a:r>
              <a:rPr/>
              <a:t>↓ ↓ ↓ ↓</a:t>
            </a:r>
          </a:p>
          <a:p>
            <a:pPr lvl="0" marL="0" indent="0">
              <a:buNone/>
            </a:pPr>
            <a:r>
              <a:rPr/>
              <a:t>constraints macro strip perf flags CSV output</a:t>
            </a:r>
          </a:p>
          <a:p>
            <a:pPr lvl="1"/>
            <a:r>
              <a:rPr/>
              <a:t>ali shapes + declare gen baked at compile unified results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Pipeline metrics:</a:t>
            </a:r>
          </a:p>
          <a:p>
            <a:pPr lvl="1"/>
            <a:r>
              <a:rPr/>
              <a:t>1,772 kernels → 886 batches (2 kernels/bin)</a:t>
            </a:r>
          </a:p>
          <a:p>
            <a:pPr lvl="1"/>
            <a:r>
              <a:rPr/>
              <a:t>33s compile + 30s screen ≈ 1.5 min/batch</a:t>
            </a:r>
          </a:p>
          <a:p>
            <a:pPr lvl="1"/>
            <a:r>
              <a:rPr/>
              <a:t>Full run: ~22 hours sequential, ~7h with 4-GPU round-robin</a:t>
            </a:r>
          </a:p>
          <a:p>
            <a:pPr lvl="1"/>
            <a:r>
              <a:rPr/>
              <a:t>Result: single CSV with per-kernel TFLOPS + metadata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Kernel</a:t>
            </a:r>
            <a:r>
              <a:rPr/>
              <a:t> </a:t>
            </a:r>
            <a:r>
              <a:rPr/>
              <a:t>Search</a:t>
            </a:r>
            <a:r>
              <a:rPr/>
              <a:t> </a:t>
            </a:r>
            <a:r>
              <a:rPr/>
              <a:t>Space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tile_m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{8,</a:t>
                      </a:r>
                      <a:r>
                        <a:rPr/>
                        <a:t> </a:t>
                      </a:r>
                      <a:r>
                        <a:rPr/>
                        <a:t>16,</a:t>
                      </a:r>
                      <a:r>
                        <a:rPr/>
                        <a:t> </a:t>
                      </a:r>
                      <a:r>
                        <a:rPr/>
                        <a:t>32,</a:t>
                      </a:r>
                      <a:r>
                        <a:rPr/>
                        <a:t> </a:t>
                      </a:r>
                      <a:r>
                        <a:rPr/>
                        <a:t>64,</a:t>
                      </a:r>
                      <a:r>
                        <a:rPr/>
                        <a:t> </a:t>
                      </a:r>
                      <a:r>
                        <a:rPr/>
                        <a:t>128,</a:t>
                      </a:r>
                      <a:r>
                        <a:rPr/>
                        <a:t> </a:t>
                      </a:r>
                      <a:r>
                        <a:rPr/>
                        <a:t>256,</a:t>
                      </a:r>
                      <a:r>
                        <a:rPr/>
                        <a:t> </a:t>
                      </a:r>
                      <a:r>
                        <a:rPr/>
                        <a:t>512}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tile_n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{32,</a:t>
                      </a:r>
                      <a:r>
                        <a:rPr/>
                        <a:t> </a:t>
                      </a:r>
                      <a:r>
                        <a:rPr/>
                        <a:t>64,</a:t>
                      </a:r>
                      <a:r>
                        <a:rPr/>
                        <a:t> </a:t>
                      </a:r>
                      <a:r>
                        <a:rPr/>
                        <a:t>96,</a:t>
                      </a:r>
                      <a:r>
                        <a:rPr/>
                        <a:t> </a:t>
                      </a:r>
                      <a:r>
                        <a:rPr/>
                        <a:t>128,</a:t>
                      </a:r>
                      <a:r>
                        <a:rPr/>
                        <a:t> </a:t>
                      </a:r>
                      <a:r>
                        <a:rPr/>
                        <a:t>192,</a:t>
                      </a:r>
                      <a:r>
                        <a:rPr/>
                        <a:t> </a:t>
                      </a:r>
                      <a:r>
                        <a:rPr/>
                        <a:t>256,</a:t>
                      </a:r>
                      <a:r>
                        <a:rPr/>
                        <a:t> </a:t>
                      </a:r>
                      <a:r>
                        <a:rPr/>
                        <a:t>512}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tile_k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{16,</a:t>
                      </a:r>
                      <a:r>
                        <a:rPr/>
                        <a:t> </a:t>
                      </a:r>
                      <a:r>
                        <a:rPr/>
                        <a:t>32,</a:t>
                      </a:r>
                      <a:r>
                        <a:rPr/>
                        <a:t> </a:t>
                      </a:r>
                      <a:r>
                        <a:rPr/>
                        <a:t>64}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sg_m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{1,</a:t>
                      </a:r>
                      <a:r>
                        <a:rPr/>
                        <a:t> </a:t>
                      </a:r>
                      <a:r>
                        <a:rPr/>
                        <a:t>2,</a:t>
                      </a:r>
                      <a:r>
                        <a:rPr/>
                        <a:t> </a:t>
                      </a:r>
                      <a:r>
                        <a:rPr/>
                        <a:t>4,</a:t>
                      </a:r>
                      <a:r>
                        <a:rPr/>
                        <a:t> </a:t>
                      </a:r>
                      <a:r>
                        <a:rPr/>
                        <a:t>8}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sg_n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{2,</a:t>
                      </a:r>
                      <a:r>
                        <a:rPr/>
                        <a:t> </a:t>
                      </a:r>
                      <a:r>
                        <a:rPr/>
                        <a:t>4,</a:t>
                      </a:r>
                      <a:r>
                        <a:rPr/>
                        <a:t> </a:t>
                      </a:r>
                      <a:r>
                        <a:rPr/>
                        <a:t>8}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{1,</a:t>
                      </a:r>
                      <a:r>
                        <a:rPr/>
                        <a:t> </a:t>
                      </a:r>
                      <a:r>
                        <a:rPr/>
                        <a:t>2,</a:t>
                      </a:r>
                      <a:r>
                        <a:rPr/>
                        <a:t> </a:t>
                      </a:r>
                      <a:r>
                        <a:rPr/>
                        <a:t>3}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scheduler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{Gemm,</a:t>
                      </a:r>
                      <a:r>
                        <a:rPr/>
                        <a:t> </a:t>
                      </a:r>
                      <a:r>
                        <a:rPr/>
                        <a:t>StreamK,</a:t>
                      </a:r>
                      <a:r>
                        <a:rPr/>
                        <a:t> </a:t>
                      </a:r>
                      <a:r>
                        <a:rPr/>
                        <a:t>DataParallel,</a:t>
                      </a:r>
                      <a:r>
                        <a:rPr/>
                        <a:t> </a:t>
                      </a:r>
                      <a:r>
                        <a:rPr/>
                        <a:t>SplitK}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layout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{RCR,</a:t>
                      </a:r>
                      <a:r>
                        <a:rPr/>
                        <a:t> </a:t>
                      </a:r>
                      <a:r>
                        <a:rPr/>
                        <a:t>RRR}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Constraints:</a:t>
            </a:r>
          </a:p>
          <a:p>
            <a:pPr lvl="1"/>
            <a:r>
              <a:rPr/>
              <a:t>B70 hardware max subgroup = 32 → sg_m × sg_n ∈ {16, 32}</a:t>
            </a:r>
          </a:p>
          <a:p>
            <a:pPr lvl="1"/>
            <a:r>
              <a:rPr/>
              <a:t>SG 8×8 invalid (product = 64 &gt; 32)</a:t>
            </a:r>
          </a:p>
          <a:p>
            <a:pPr lvl="1"/>
            <a:r>
              <a:rPr/>
              <a:t>StreamK / DP / SplitK: SG fixed at 8×4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BF16 coverage breakdown: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Total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</a:t>
                      </a:r>
                      <a:r>
                        <a:rPr/>
                        <a:t> </a:t>
                      </a:r>
                      <a:r>
                        <a:rPr/>
                        <a:t>SG</a:t>
                      </a:r>
                      <a:r>
                        <a:rPr/>
                        <a:t> </a:t>
                      </a:r>
                      <a:r>
                        <a:rPr/>
                        <a:t>exhaustive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</a:t>
                      </a:r>
                      <a:r>
                        <a:rPr/>
                        <a:t> </a:t>
                      </a:r>
                      <a:r>
                        <a:rPr/>
                        <a:t>(stages)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1,368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StreamK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DataParallel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Hand-written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1,772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Two-Phase</a:t>
            </a:r>
            <a:r>
              <a:rPr/>
              <a:t> </a:t>
            </a:r>
            <a:r>
              <a:rPr/>
              <a:t>Search</a:t>
            </a:r>
            <a:r>
              <a:rPr/>
              <a:t> </a:t>
            </a:r>
            <a:r>
              <a:rPr/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Phase 1 — Compute Shape (Gemm scheduler fixed)</a:t>
            </a:r>
          </a:p>
          <a:p>
            <a:pPr lvl="1"/>
            <a:r>
              <a:rPr/>
              <a:t>Search: tile_m × tile_n × tile_k × sg_m × sg_n × stages</a:t>
            </a:r>
          </a:p>
          <a:p>
            <a:pPr lvl="1"/>
            <a:r>
              <a:rPr/>
              <a:t>Goal: find most compute-efficient configurations</a:t>
            </a:r>
          </a:p>
          <a:p>
            <a:pPr lvl="1"/>
            <a:r>
              <a:rPr/>
              <a:t>Output: top-10 per occupancy bucket (not pure GFLOPS)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Phase 2 — Execution Strategy (scheduler sweep)</a:t>
            </a:r>
          </a:p>
          <a:p>
            <a:pPr lvl="1"/>
            <a:r>
              <a:rPr/>
              <a:t>Input: Phase 1 top-10 compute configs</a:t>
            </a:r>
          </a:p>
          <a:p>
            <a:pPr lvl="1"/>
            <a:r>
              <a:rPr/>
              <a:t>Search: scheduler × splits on fixed tile + SG</a:t>
            </a:r>
          </a:p>
          <a:p>
            <a:pPr lvl="1"/>
            <a:r>
              <a:rPr/>
              <a:t>Goal: find optimal scheduler per compute config</a:t>
            </a:r>
          </a:p>
          <a:p>
            <a:pPr lvl="1"/>
            <a:r>
              <a:rPr/>
              <a:t>Expected: ~10 configs × 4 schedulers × 3 splits ≈ 120 variants (vs. 886)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Key data insight:</a:t>
            </a:r>
          </a:p>
          <a:p>
            <a:pPr lvl="1"/>
            <a:r>
              <a:rPr/>
              <a:t>On large GEMM (8192×4096): all schedulers within 1% of each other</a:t>
            </a:r>
          </a:p>
          <a:p>
            <a:pPr lvl="1"/>
            <a:r>
              <a:rPr/>
              <a:t>Scheduler matters at K-skinny or small M/N problems</a:t>
            </a:r>
          </a:p>
          <a:p>
            <a:pPr lvl="1"/>
            <a:r>
              <a:rPr/>
              <a:t>Phase 2 enables reusing Phase 1 results across problem shapes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Occupancy-bucket diversity (critical):</a:t>
            </a:r>
          </a:p>
          <a:p>
            <a:pPr lvl="1"/>
            <a:r>
              <a:rPr/>
              <a:t>Large tile, low occupancy → favors DataParallel</a:t>
            </a:r>
          </a:p>
          <a:p>
            <a:pPr lvl="1"/>
            <a:r>
              <a:rPr/>
              <a:t>Small tile, high occupancy → favors StreamK / SplitK</a:t>
            </a:r>
          </a:p>
          <a:p>
            <a:pPr lvl="1"/>
            <a:r>
              <a:rPr/>
              <a:t>Retain top-N from MULTIPLE occupancy classes, not just top GFLOPS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gen_mini_hpp.py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Per-Batch</a:t>
            </a:r>
            <a:r>
              <a:rPr/>
              <a:t> </a:t>
            </a:r>
            <a:r>
              <a:rPr/>
              <a:t>Kernel</a:t>
            </a:r>
            <a:r>
              <a:rPr/>
              <a:t> </a:t>
            </a:r>
            <a:r>
              <a:rPr/>
              <a:t>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Problem:</a:t>
            </a:r>
            <a:r>
              <a:rPr/>
              <a:t> Full </a:t>
            </a:r>
            <a:r>
              <a:rPr>
                <a:latin typeface="Courier"/>
              </a:rPr>
              <a:t>benchmarks_sycl.hpp</a:t>
            </a:r>
            <a:r>
              <a:rPr/>
              <a:t> = 835 lines, 300+ macro-generated types. Compile time &gt; 30 minutes with all types. Each batch needs only 2 kernel types.</a:t>
            </a:r>
          </a:p>
          <a:p>
            <a:pPr lvl="0" marL="0" indent="0">
              <a:buNone/>
            </a:pPr>
            <a:r>
              <a:rPr b="1"/>
              <a:t>Solution:</a:t>
            </a:r>
            <a:r>
              <a:rPr/>
              <a:t> </a:t>
            </a:r>
            <a:r>
              <a:rPr>
                <a:latin typeface="Courier"/>
              </a:rPr>
              <a:t>gen_mini_hpp.py</a:t>
            </a:r>
            <a:r>
              <a:rPr/>
              <a:t> strips preamble and generates batch-specific code.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Final design (after 12+ iterations):</a:t>
            </a:r>
          </a:p>
          <a:p>
            <a:pPr lvl="1">
              <a:buAutoNum type="arabicPeriod"/>
            </a:pPr>
            <a:r>
              <a:rPr/>
              <a:t>Read full HPP → extract macro definitions + template types</a:t>
            </a:r>
          </a:p>
          <a:p>
            <a:pPr lvl="1">
              <a:buAutoNum type="arabicPeriod"/>
            </a:pPr>
            <a:r>
              <a:rPr b="1"/>
              <a:t>Strip</a:t>
            </a:r>
            <a:r>
              <a:rPr/>
              <a:t> all </a:t>
            </a:r>
            <a:r>
              <a:rPr>
                <a:latin typeface="Courier"/>
              </a:rPr>
              <a:t>BMG_DECLARE_*</a:t>
            </a:r>
            <a:r>
              <a:rPr/>
              <a:t>, </a:t>
            </a:r>
            <a:r>
              <a:rPr>
                <a:latin typeface="Courier"/>
              </a:rPr>
              <a:t>BMG_REGISTER_*</a:t>
            </a:r>
            <a:r>
              <a:rPr/>
              <a:t>, </a:t>
            </a:r>
            <a:r>
              <a:rPr>
                <a:latin typeface="Courier"/>
              </a:rPr>
              <a:t>BMG_SOURCE_*</a:t>
            </a:r>
            <a:r>
              <a:rPr/>
              <a:t> macro calls and </a:t>
            </a:r>
            <a:r>
              <a:rPr>
                <a:latin typeface="Courier"/>
              </a:rPr>
              <a:t>.def</a:t>
            </a:r>
            <a:r>
              <a:rPr/>
              <a:t> includes</a:t>
            </a:r>
          </a:p>
          <a:p>
            <a:pPr lvl="1">
              <a:buAutoNum type="arabicPeriod"/>
            </a:pPr>
            <a:r>
              <a:rPr/>
              <a:t>For each batch kernel, classify by regex pattern and generate:</a:t>
            </a:r>
          </a:p>
          <a:p>
            <a:pPr lvl="1"/>
            <a:r>
              <a:rPr/>
              <a:t>Gemm_ SG: </a:t>
            </a:r>
            <a:r>
              <a:rPr>
                <a:latin typeface="Courier"/>
              </a:rPr>
              <a:t>BMG_DECLARE_GEMM_TILE_SG(PREFIX, CONFIG, ATOM, M,N,K,SGM,SGN)</a:t>
            </a:r>
          </a:p>
          <a:p>
            <a:pPr lvl="1"/>
            <a:r>
              <a:rPr/>
              <a:t>GemmExhaustive: </a:t>
            </a:r>
            <a:r>
              <a:rPr>
                <a:latin typeface="Courier"/>
              </a:rPr>
              <a:t>BMG_DECLARE_EXHAUSTIVE_GEMM_TILE_STAGE(...)</a:t>
            </a:r>
          </a:p>
          <a:p>
            <a:pPr lvl="1"/>
            <a:r>
              <a:rPr/>
              <a:t>StreamK / DP / SplitK: direct </a:t>
            </a:r>
            <a:r>
              <a:rPr>
                <a:latin typeface="Courier"/>
              </a:rPr>
              <a:t>GemmConfiguration&lt;...&gt;</a:t>
            </a:r>
            <a:r>
              <a:rPr/>
              <a:t> + </a:t>
            </a:r>
            <a:r>
              <a:rPr>
                <a:latin typeface="Courier"/>
              </a:rPr>
              <a:t>CUTLASS_CREATE_GEMM_BENCHMARK</a:t>
            </a:r>
          </a:p>
          <a:p>
            <a:pPr lvl="1">
              <a:buAutoNum startAt="4" type="arabicPeriod"/>
            </a:pPr>
            <a:r>
              <a:rPr/>
              <a:t>Skip kernels already covered by </a:t>
            </a:r>
            <a:r>
              <a:rPr>
                <a:latin typeface="Courier"/>
              </a:rPr>
              <a:t>EXPANDED_STREAMK_TILES</a:t>
            </a:r>
            <a:r>
              <a:rPr/>
              <a:t> or hand-written declarations</a:t>
            </a:r>
          </a:p>
          <a:p>
            <a:pPr lvl="1">
              <a:buAutoNum startAt="4" type="arabicPeriod"/>
            </a:pPr>
            <a:r>
              <a:rPr/>
              <a:t>Override </a:t>
            </a:r>
            <a:r>
              <a:rPr>
                <a:latin typeface="Courier"/>
              </a:rPr>
              <a:t>register_gemm_benchmarks()</a:t>
            </a:r>
            <a:r>
              <a:rPr/>
              <a:t> with batch-specific registrations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Key pitfalls fixed:</a:t>
            </a:r>
          </a:p>
          <a:p>
            <a:pPr lvl="1"/>
            <a:r>
              <a:rPr/>
              <a:t>Preamble strip prevents redefinition with 300+ macro-generated types</a:t>
            </a:r>
          </a:p>
          <a:p>
            <a:pPr lvl="1"/>
            <a:r>
              <a:rPr>
                <a:latin typeface="Courier"/>
              </a:rPr>
              <a:t>covered()</a:t>
            </a:r>
            <a:r>
              <a:rPr/>
              <a:t> checks both </a:t>
            </a:r>
            <a:r>
              <a:rPr>
                <a:latin typeface="Courier"/>
              </a:rPr>
              <a:t>using Name =</a:t>
            </a:r>
            <a:r>
              <a:rPr/>
              <a:t> and </a:t>
            </a:r>
            <a:r>
              <a:rPr>
                <a:latin typeface="Courier"/>
              </a:rPr>
              <a:t>CUTLASS_CREATE_GEMM_BENCHMARK</a:t>
            </a:r>
          </a:p>
          <a:p>
            <a:pPr lvl="1"/>
            <a:r>
              <a:rPr>
                <a:latin typeface="Courier"/>
              </a:rPr>
              <a:t>EXPANDED_STREAMK_TILES</a:t>
            </a:r>
            <a:r>
              <a:rPr/>
              <a:t> set must match full HPP individual calls (29 tiles)</a:t>
            </a:r>
          </a:p>
          <a:p>
            <a:pPr lvl="1"/>
            <a:r>
              <a:rPr>
                <a:latin typeface="Courier"/>
              </a:rPr>
              <a:t>.DELETE_ON_ERROR</a:t>
            </a:r>
            <a:r>
              <a:rPr/>
              <a:t>: cmake deletes </a:t>
            </a:r>
            <a:r>
              <a:rPr>
                <a:latin typeface="Courier"/>
              </a:rPr>
              <a:t>.o</a:t>
            </a:r>
            <a:r>
              <a:rPr/>
              <a:t> on link fail → </a:t>
            </a:r>
            <a:r>
              <a:rPr>
                <a:latin typeface="Courier"/>
              </a:rPr>
              <a:t>sed -i</a:t>
            </a:r>
            <a:r>
              <a:rPr/>
              <a:t> to remove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Performance impact of preamble stripping:</a:t>
            </a:r>
          </a:p>
          <a:p>
            <a:pPr lvl="1"/>
            <a:r>
              <a:rPr/>
              <a:t>Before: 835 lines, IGC sees 300+ extra types → conservative optimization → 148 TFLOPS</a:t>
            </a:r>
          </a:p>
          <a:p>
            <a:pPr lvl="1"/>
            <a:r>
              <a:rPr/>
              <a:t>After: ~500 lines, only batch types → IGC aggressive optimization → </a:t>
            </a:r>
            <a:r>
              <a:rPr b="1"/>
              <a:t>155 TFLOPS (+4-6%)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Build</a:t>
            </a:r>
            <a:r>
              <a:rPr/>
              <a:t> </a:t>
            </a:r>
            <a:r>
              <a:rPr/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Toolchain:</a:t>
            </a:r>
          </a:p>
          <a:p>
            <a:pPr lvl="1"/>
            <a:r>
              <a:rPr/>
              <a:t>Intel oneAPI 2025.3 (icpx compiler)</a:t>
            </a:r>
          </a:p>
          <a:p>
            <a:pPr lvl="1"/>
            <a:r>
              <a:rPr/>
              <a:t>cmake 3.28 (Unix Makefiles generator)</a:t>
            </a:r>
          </a:p>
          <a:p>
            <a:pPr lvl="1"/>
            <a:r>
              <a:rPr/>
              <a:t>SYCL target: </a:t>
            </a:r>
            <a:r>
              <a:rPr>
                <a:latin typeface="Courier"/>
              </a:rPr>
              <a:t>spir64_gen -device bmg-g31</a:t>
            </a:r>
          </a:p>
          <a:p>
            <a:pPr lvl="1"/>
            <a:r>
              <a:rPr/>
              <a:t>SPIR-V extensions: </a:t>
            </a:r>
            <a:r>
              <a:rPr>
                <a:latin typeface="Courier"/>
              </a:rPr>
              <a:t>+SPV_INTEL_split_barrier,+SPV_INTEL_2d_block_io,+SPV_INTEL_subgroup_matrix_multiply_accumulate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Critical compile flags (must be exported BEFORE make):</a:t>
            </a:r>
          </a:p>
          <a:p>
            <a:pPr lvl="0" marL="0" indent="0">
              <a:buNone/>
            </a:pPr>
            <a:r>
              <a:rPr/>
              <a:t>export SYCL_PROGRAM_COMPILE_OPTIONS=“-ze-opt-large-register-file -gline-tables-only”</a:t>
            </a:r>
          </a:p>
          <a:p>
            <a:pPr lvl="0" marL="0" indent="0">
              <a:buNone/>
            </a:pPr>
            <a:r>
              <a:rPr/>
              <a:t>export IGC_VectorAliasBBThreshold=10000</a:t>
            </a:r>
          </a:p>
          <a:p>
            <a:pPr lvl="0" marL="0" indent="0">
              <a:buNone/>
            </a:pPr>
            <a:r>
              <a:rPr/>
              <a:t>export IGC_ExtraOCLOptions=“-cl-intel-256-GRF-per-thread”</a:t>
            </a:r>
          </a:p>
          <a:p>
            <a:pPr lvl="0" marL="0" indent="0">
              <a:buNone/>
            </a:pPr>
            <a:r>
              <a:rPr/>
              <a:t>Without these: </a:t>
            </a:r>
            <a:r>
              <a:rPr b="1"/>
              <a:t>~4 TFLOPS</a:t>
            </a:r>
            <a:r>
              <a:rPr/>
              <a:t>. With them: </a:t>
            </a:r>
            <a:r>
              <a:rPr b="1"/>
              <a:t>154.9 TFLOPS</a:t>
            </a:r>
            <a:r>
              <a:rPr/>
              <a:t>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Build flow per batch:</a:t>
            </a:r>
          </a:p>
          <a:p>
            <a:pPr lvl="0" marL="0" indent="0">
              <a:buNone/>
            </a:pPr>
            <a:r>
              <a:rPr/>
              <a:t>gen_mini_hpp.py → benchmark_sycl.hpp (~500 lines)</a:t>
            </a:r>
          </a:p>
          <a:p>
            <a:pPr lvl="0" marL="0" indent="0">
              <a:buNone/>
            </a:pPr>
            <a:r>
              <a:rPr/>
              <a:t>↓</a:t>
            </a:r>
          </a:p>
          <a:p>
            <a:pPr lvl="0" marL="0" indent="0">
              <a:buNone/>
            </a:pPr>
            <a:r>
              <a:rPr/>
              <a:t>cmake make cutlass_benchmarks_gemm_sycl -j128 → main.cpp.o (33s)</a:t>
            </a:r>
          </a:p>
          <a:p>
            <a:pPr lvl="0" marL="0" indent="0">
              <a:buNone/>
            </a:pPr>
            <a:r>
              <a:rPr/>
              <a:t>↓ (.DELETE_ON_ERROR disabled via sed)</a:t>
            </a:r>
          </a:p>
          <a:p>
            <a:pPr lvl="0" marL="0" indent="0">
              <a:buNone/>
            </a:pPr>
            <a:r>
              <a:rPr/>
              <a:t>icpx manual link → binary (~1s, 3–4 MB)</a:t>
            </a:r>
          </a:p>
          <a:p>
            <a:pPr lvl="0" marL="0" indent="0">
              <a:buNone/>
            </a:pPr>
            <a:r>
              <a:rPr/>
              <a:t>↓ (Google Benchmark stub: headers needed, library not)</a:t>
            </a:r>
          </a:p>
          <a:p>
            <a:pPr lvl="0" marL="0" indent="0">
              <a:buNone/>
            </a:pPr>
            <a:r>
              <a:rPr/>
              <a:t>ZE_AFFINITY_MASK=N ./binary –kernel=NAME –m=8192 –n=4096 –k=1536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Google Benchmark handling:</a:t>
            </a:r>
          </a:p>
          <a:p>
            <a:pPr lvl="1"/>
            <a:r>
              <a:rPr>
                <a:latin typeface="Courier"/>
              </a:rPr>
              <a:t>benchmark::State</a:t>
            </a:r>
            <a:r>
              <a:rPr/>
              <a:t> type needed → headers required</a:t>
            </a:r>
          </a:p>
          <a:p>
            <a:pPr lvl="1"/>
            <a:r>
              <a:rPr/>
              <a:t>Library NOT needed (uses </a:t>
            </a:r>
            <a:r>
              <a:rPr>
                <a:latin typeface="Courier"/>
              </a:rPr>
              <a:t>run_direct</a:t>
            </a:r>
            <a:r>
              <a:rPr/>
              <a:t> bypassing GB)</a:t>
            </a:r>
          </a:p>
          <a:p>
            <a:pPr lvl="1"/>
            <a:r>
              <a:rPr>
                <a:latin typeface="Courier"/>
              </a:rPr>
              <a:t>cmake/googlebenchmark_stub.cmake</a:t>
            </a:r>
            <a:r>
              <a:rPr/>
              <a:t>: INTERFACE targets + ALIAS </a:t>
            </a:r>
            <a:r>
              <a:rPr>
                <a:latin typeface="Courier"/>
              </a:rPr>
              <a:t>benchmark::benchmark</a:t>
            </a:r>
          </a:p>
          <a:p>
            <a:pPr lvl="1"/>
            <a:r>
              <a:rPr/>
              <a:t>cmake link fails (no </a:t>
            </a:r>
            <a:r>
              <a:rPr>
                <a:latin typeface="Courier"/>
              </a:rPr>
              <a:t>.a</a:t>
            </a:r>
            <a:r>
              <a:rPr/>
              <a:t>) → manual </a:t>
            </a:r>
            <a:r>
              <a:rPr>
                <a:latin typeface="Courier"/>
              </a:rPr>
              <a:t>icpx</a:t>
            </a:r>
            <a:r>
              <a:rPr/>
              <a:t> link with pre-built </a:t>
            </a:r>
            <a:r>
              <a:rPr>
                <a:latin typeface="Courier"/>
              </a:rPr>
              <a:t>libbenchmark.a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Manual</a:t>
            </a:r>
            <a:r>
              <a:rPr/>
              <a:t> </a:t>
            </a:r>
            <a:r>
              <a:rPr/>
              <a:t>Verification</a:t>
            </a:r>
            <a:r>
              <a:rPr/>
              <a:t> </a:t>
            </a:r>
            <a:r>
              <a:rPr/>
              <a:t>(Example</a:t>
            </a:r>
            <a:r>
              <a:rPr/>
              <a:t> </a:t>
            </a:r>
            <a:r>
              <a:rPr/>
              <a:t>03</a:t>
            </a:r>
            <a:r>
              <a:rPr/>
              <a:t> </a:t>
            </a:r>
            <a:r>
              <a:rPr/>
              <a:t>Cross-Check)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[To be filled in by reviewer]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Runtime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Perf</a:t>
            </a:r>
            <a:r>
              <a:rPr/>
              <a:t> </a:t>
            </a:r>
            <a:r>
              <a:rPr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Scheduler types (all share identical CollectiveMma):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Best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KernelXe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Static</a:t>
                      </a:r>
                      <a:r>
                        <a:rPr/>
                        <a:t> </a:t>
                      </a:r>
                      <a:r>
                        <a:rPr/>
                        <a:t>tile</a:t>
                      </a:r>
                      <a:r>
                        <a:rPr/>
                        <a:t> </a:t>
                      </a:r>
                      <a:r>
                        <a:rPr/>
                        <a:t>assignment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General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StreamK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KernelXeCooperative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Dynamic</a:t>
                      </a:r>
                      <a:r>
                        <a:rPr/>
                        <a:t> </a:t>
                      </a:r>
                      <a:r>
                        <a:rPr/>
                        <a:t>tile</a:t>
                      </a:r>
                      <a:r>
                        <a:rPr/>
                        <a:t> </a:t>
                      </a:r>
                      <a:r>
                        <a:rPr/>
                        <a:t>dispatch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K-skinny,</a:t>
                      </a:r>
                      <a:r>
                        <a:rPr/>
                        <a:t> </a:t>
                      </a:r>
                      <a:r>
                        <a:rPr/>
                        <a:t>small</a:t>
                      </a:r>
                      <a:r>
                        <a:rPr/>
                        <a:t> </a:t>
                      </a:r>
                      <a:r>
                        <a:rPr/>
                        <a:t>batch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DataParallel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KernelXeCooperative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Splits</a:t>
                      </a:r>
                      <a:r>
                        <a:rPr/>
                        <a:t> </a:t>
                      </a:r>
                      <a:r>
                        <a:rPr/>
                        <a:t>M×N</a:t>
                      </a:r>
                      <a:r>
                        <a:rPr/>
                        <a:t> </a:t>
                      </a:r>
                      <a:r>
                        <a:rPr/>
                        <a:t>grid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Large</a:t>
                      </a:r>
                      <a:r>
                        <a:rPr/>
                        <a:t> </a:t>
                      </a:r>
                      <a:r>
                        <a:rPr/>
                        <a:t>problems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KernelXeCooperative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</a:t>
                      </a:r>
                      <a:r>
                        <a:rPr/>
                        <a:t> </a:t>
                      </a:r>
                      <a:r>
                        <a:rPr/>
                        <a:t>slices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partial</a:t>
                      </a:r>
                      <a:r>
                        <a:rPr/>
                        <a:t> </a:t>
                      </a:r>
                      <a:r>
                        <a:rPr/>
                        <a:t>reduce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K-large,</a:t>
                      </a:r>
                      <a:r>
                        <a:rPr/>
                        <a:t> </a:t>
                      </a:r>
                      <a:r>
                        <a:rPr/>
                        <a:t>M/N-small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SplitK on B70 hardware:</a:t>
            </a:r>
          </a:p>
          <a:p>
            <a:pPr lvl="1"/>
            <a:r>
              <a:rPr>
                <a:latin typeface="Courier"/>
              </a:rPr>
              <a:t>PersistentTileSchedulerXeStreamKParams</a:t>
            </a:r>
            <a:r>
              <a:rPr/>
              <a:t> exposes: </a:t>
            </a:r>
            <a:r>
              <a:rPr>
                <a:latin typeface="Courier"/>
              </a:rPr>
              <a:t>DecompositionMode</a:t>
            </a:r>
            <a:r>
              <a:rPr/>
              <a:t>, </a:t>
            </a:r>
            <a:r>
              <a:rPr>
                <a:latin typeface="Courier"/>
              </a:rPr>
              <a:t>splits</a:t>
            </a:r>
            <a:r>
              <a:rPr/>
              <a:t>, </a:t>
            </a:r>
            <a:r>
              <a:rPr>
                <a:latin typeface="Courier"/>
              </a:rPr>
              <a:t>ReductionMode</a:t>
            </a:r>
          </a:p>
          <a:p>
            <a:pPr lvl="1"/>
            <a:r>
              <a:rPr>
                <a:latin typeface="Courier"/>
              </a:rPr>
              <a:t>splits=1</a:t>
            </a:r>
            <a:r>
              <a:rPr/>
              <a:t>: works reliably ✅ (verified via example 03 binary)</a:t>
            </a:r>
          </a:p>
          <a:p>
            <a:pPr lvl="1"/>
            <a:r>
              <a:rPr>
                <a:latin typeface="Courier"/>
              </a:rPr>
              <a:t>splits=2</a:t>
            </a:r>
            <a:r>
              <a:rPr/>
              <a:t>: runtime hang ❌ (hardware limitation on current driver)</a:t>
            </a:r>
          </a:p>
          <a:p>
            <a:pPr lvl="1"/>
            <a:r>
              <a:rPr/>
              <a:t>Fixed: </a:t>
            </a:r>
            <a:r>
              <a:rPr>
                <a:latin typeface="Courier"/>
              </a:rPr>
              <a:t>GemmConfiguration::defaultArguments()</a:t>
            </a:r>
            <a:r>
              <a:rPr/>
              <a:t> changed from </a:t>
            </a:r>
            <a:r>
              <a:rPr>
                <a:latin typeface="Courier"/>
              </a:rPr>
              <a:t>splits=2</a:t>
            </a:r>
            <a:r>
              <a:rPr/>
              <a:t> → </a:t>
            </a:r>
            <a:r>
              <a:rPr>
                <a:latin typeface="Courier"/>
              </a:rPr>
              <a:t>splits=1</a:t>
            </a:r>
          </a:p>
          <a:p>
            <a:pPr lvl="1"/>
            <a:r>
              <a:rPr/>
              <a:t>Fixed: </a:t>
            </a:r>
            <a:r>
              <a:rPr>
                <a:latin typeface="Courier"/>
              </a:rPr>
              <a:t>run_direct()</a:t>
            </a:r>
            <a:r>
              <a:rPr/>
              <a:t> now calls </a:t>
            </a:r>
            <a:r>
              <a:rPr>
                <a:latin typeface="Courier"/>
              </a:rPr>
              <a:t>set_scheduler_splits()</a:t>
            </a:r>
            <a:r>
              <a:rPr/>
              <a:t> (was only in </a:t>
            </a:r>
            <a:r>
              <a:rPr>
                <a:latin typeface="Courier"/>
              </a:rPr>
              <a:t>run()</a:t>
            </a:r>
            <a:r>
              <a:rPr/>
              <a:t>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CPU &amp; GPU frequency: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CPU:</a:t>
            </a:r>
            <a:r>
              <a:rPr/>
              <a:t> </a:t>
            </a:r>
            <a:r>
              <a:rPr/>
              <a:t>performance</a:t>
            </a:r>
            <a:r>
              <a:rPr/>
              <a:t> </a:t>
            </a:r>
            <a:r>
              <a:rPr/>
              <a:t>governor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gov in /sys/devices/system/cpu/cpu*/cpufreq/scaling_governor; do</a:t>
            </a:r>
          </a:p>
          <a:p>
            <a:pPr lvl="0" marL="0" indent="0">
              <a:buNone/>
            </a:pPr>
            <a:r>
              <a:rPr/>
              <a:t>echo performance &gt; $gov</a:t>
            </a:r>
          </a:p>
          <a:p>
            <a:pPr lvl="0" marL="0" indent="0">
              <a:buNone/>
            </a:pPr>
            <a:r>
              <a:rPr/>
              <a:t>done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GPU</a:t>
            </a:r>
            <a:r>
              <a:rPr/>
              <a:t> </a:t>
            </a:r>
            <a:r>
              <a:rPr/>
              <a:t>frequency</a:t>
            </a:r>
            <a:r>
              <a:rPr/>
              <a:t> </a:t>
            </a:r>
            <a:r>
              <a:rPr/>
              <a:t>managed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Xe</a:t>
            </a:r>
            <a:r>
              <a:rPr/>
              <a:t> </a:t>
            </a:r>
            <a:r>
              <a:rPr/>
              <a:t>driver</a:t>
            </a:r>
            <a:r>
              <a:rPr/>
              <a:t> </a:t>
            </a:r>
            <a:r>
              <a:rPr/>
              <a:t>firmware</a:t>
            </a:r>
            <a:r>
              <a:rPr/>
              <a:t> </a:t>
            </a:r>
            <a:r>
              <a:rPr/>
              <a:t>(no</a:t>
            </a:r>
            <a:r>
              <a:rPr/>
              <a:t> </a:t>
            </a:r>
            <a:r>
              <a:rPr/>
              <a:t>userspace</a:t>
            </a:r>
            <a:r>
              <a:rPr/>
              <a:t> </a:t>
            </a:r>
            <a:r>
              <a:rPr/>
              <a:t>control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BMG</a:t>
            </a:r>
            <a:r>
              <a:rPr/>
              <a:t> </a:t>
            </a:r>
            <a:r>
              <a:rPr/>
              <a:t>G31)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Top</a:t>
            </a:r>
            <a:r>
              <a:rPr/>
              <a:t> </a:t>
            </a:r>
            <a:r>
              <a:rPr/>
              <a:t>20</a:t>
            </a:r>
            <a:r>
              <a:rPr/>
              <a:t> </a:t>
            </a:r>
            <a:r>
              <a:rPr/>
              <a:t>Results</a:t>
            </a:r>
            <a:r>
              <a:rPr/>
              <a:t> </a:t>
            </a:r>
            <a:r>
              <a:rPr/>
              <a:t>(Problem:</a:t>
            </a:r>
            <a:r>
              <a:rPr/>
              <a:t> </a:t>
            </a:r>
            <a:r>
              <a:rPr/>
              <a:t>8192×4096×1536,</a:t>
            </a:r>
            <a:r>
              <a:rPr/>
              <a:t> </a:t>
            </a:r>
            <a:r>
              <a:rPr/>
              <a:t>BF16)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Layout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154.9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Gemm_128×128×32_SG2×4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RRR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149.6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Gemm_128×256×32_SG4×4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RRR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149.2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Gemm_256×128×32_SG4×4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RRR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Gemm_128×128×32_SG2×4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Gemm_256×128×32_SG8×2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RRR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146.6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Gemm_256×128×32_SG4×4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145.6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GemmExhaustive_128×256×32_SG2×8_ST2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144.7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GemmExhaustive_256×128×32_SG4×4_ST2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144.4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GemmExhaustive_128×256×32_SG2×8_ST3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DataParallel_256×256×32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SplitK_256×256×32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GemmExhaustive_256×128×32_SG4×4_ST1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GemmExhaustive_256×128×32_SG4×4_ST3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GemmExhaustive_64×256×64_SG2×8_ST1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Gemm_64×128×32_SG1×8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StreamK_256×256×32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142.2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GemmExhaustive_128×256×32_SG2×8_ST1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GemmExhaustive_256×128×32_SG8×2_ST1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140.9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Gemm_128×128×64_SG4×4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GemmExhaustive_256×128×32_SG8×2_ST2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Statistics (992 kernels):</a:t>
            </a:r>
            <a:r>
              <a:rPr/>
              <a:t> mean = 76.3, median = 68.9, top RRR = 154.9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Scheduler</a:t>
            </a:r>
            <a:r>
              <a:rPr/>
              <a:t> </a:t>
            </a:r>
            <a:r>
              <a:rPr/>
              <a:t>Comparison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Tile,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Tile: 256×256×32, SG 8×4, Problem: 8192×4096×1536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Gemm</a:t>
                      </a:r>
                      <a:r>
                        <a:rPr/>
                        <a:t> </a:t>
                      </a:r>
                      <a:r>
                        <a:rPr/>
                        <a:t>baseline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StreamK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+4.2%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DataParallel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144.3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+5.7%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SplitK</a:t>
                      </a:r>
                      <a:r>
                        <a:rPr/>
                        <a:t> </a:t>
                      </a:r>
                      <a:r>
                        <a:rPr/>
                        <a:t>(splits=1)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144.2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+5.6%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Key finding:</a:t>
            </a:r>
          </a:p>
          <a:p>
            <a:pPr lvl="1"/>
            <a:r>
              <a:rPr/>
              <a:t>On large GEMM, all schedulers perform within 1.4% of each other</a:t>
            </a:r>
          </a:p>
          <a:p>
            <a:pPr lvl="1"/>
            <a:r>
              <a:rPr/>
              <a:t>Scheduler impact is small when GPU is already saturated</a:t>
            </a:r>
          </a:p>
          <a:p>
            <a:pPr lvl="1"/>
            <a:r>
              <a:rPr/>
              <a:t>StreamK / SplitK benefits manifest at K-skinny or small-batch problems</a:t>
            </a:r>
          </a:p>
          <a:p>
            <a:pPr lvl="1"/>
            <a:r>
              <a:rPr/>
              <a:t>DataParallel has slight edge on large problems (simple, no reduction overhead)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CPU overhead comparison:</a:t>
            </a:r>
          </a:p>
          <a:p>
            <a:pPr lvl="1"/>
            <a:r>
              <a:rPr/>
              <a:t>Gemm: 0% extra CPU work</a:t>
            </a:r>
          </a:p>
          <a:p>
            <a:pPr lvl="1"/>
            <a:r>
              <a:rPr/>
              <a:t>DataParallel: low overhead (grid repartition only)</a:t>
            </a:r>
          </a:p>
          <a:p>
            <a:pPr lvl="1"/>
            <a:r>
              <a:rPr/>
              <a:t>StreamK: moderate overhead (dynamic work stealing)</a:t>
            </a:r>
          </a:p>
          <a:p>
            <a:pPr lvl="1"/>
            <a:r>
              <a:rPr/>
              <a:t>SplitK: highest overhead (reduction / atomic accumulate)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RRR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/>
              <a:t>RCR</a:t>
            </a:r>
            <a:r>
              <a:rPr/>
              <a:t> </a:t>
            </a:r>
            <a:r>
              <a:rPr/>
              <a:t>Layout</a:t>
            </a:r>
            <a:r>
              <a:rPr/>
              <a:t> </a:t>
            </a:r>
            <a:r>
              <a:rPr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Identical compute configs, different memory layout: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Tile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RCR</a:t>
                      </a:r>
                      <a:r>
                        <a:rPr/>
                        <a:t> </a:t>
                      </a:r>
                      <a:r>
                        <a:rPr/>
                        <a:t>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RRR</a:t>
                      </a:r>
                      <a:r>
                        <a:rPr/>
                        <a:t> </a:t>
                      </a:r>
                      <a:r>
                        <a:rPr/>
                        <a:t>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RRR</a:t>
                      </a:r>
                      <a:r>
                        <a:rPr/>
                        <a:t> </a:t>
                      </a:r>
                      <a:r>
                        <a:rPr/>
                        <a:t>Win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128×128×32</a:t>
                      </a:r>
                      <a:r>
                        <a:rPr/>
                        <a:t> </a:t>
                      </a:r>
                      <a:r>
                        <a:rPr/>
                        <a:t>SG2×4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154.9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+5.0%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128×256×32</a:t>
                      </a:r>
                      <a:r>
                        <a:rPr/>
                        <a:t> </a:t>
                      </a:r>
                      <a:r>
                        <a:rPr/>
                        <a:t>SG4×4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149.6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+14.1%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256×128×32</a:t>
                      </a:r>
                      <a:r>
                        <a:rPr/>
                        <a:t> </a:t>
                      </a:r>
                      <a:r>
                        <a:rPr/>
                        <a:t>SG4×4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146.6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149.2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+1.8%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Why RRR wins:</a:t>
            </a:r>
          </a:p>
          <a:p>
            <a:pPr lvl="1"/>
            <a:r>
              <a:rPr>
                <a:latin typeface="Courier"/>
              </a:rPr>
              <a:t>B: RowMajor</a:t>
            </a:r>
            <a:r>
              <a:rPr/>
              <a:t> → contiguous memory access in TiledMMA</a:t>
            </a:r>
          </a:p>
          <a:p>
            <a:pPr lvl="1"/>
            <a:r>
              <a:rPr/>
              <a:t>Better cache locality and register reuse</a:t>
            </a:r>
          </a:p>
          <a:p>
            <a:pPr lvl="1"/>
            <a:r>
              <a:rPr/>
              <a:t>Same DPAS atom, same computation, different data layout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RRR is NOT always faster:</a:t>
            </a:r>
          </a:p>
          <a:p>
            <a:pPr lvl="1"/>
            <a:r>
              <a:rPr/>
              <a:t>RCR benefits C-transposed access patterns</a:t>
            </a:r>
          </a:p>
          <a:p>
            <a:pPr lvl="1"/>
            <a:r>
              <a:rPr/>
              <a:t>Best layout depends on problem dimensions</a:t>
            </a:r>
          </a:p>
          <a:p>
            <a:pPr lvl="1"/>
            <a:r>
              <a:rPr/>
              <a:t>Current data: RRR wins on 8192×4096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Build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Screen</a:t>
            </a:r>
            <a:r>
              <a:rPr/>
              <a:t> </a:t>
            </a:r>
            <a:r>
              <a:rPr/>
              <a:t>SOP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One-command full screening:</a:t>
            </a:r>
          </a:p>
          <a:p>
            <a:pPr lvl="0" marL="0" indent="0">
              <a:buNone/>
            </a:pPr>
            <a:r>
              <a:rPr/>
              <a:t>RESULTS_DIR=$WS/results_final_full BATCHES=all bash tools/run_seq.sh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Pre-flight checklist:</a:t>
            </a:r>
          </a:p>
          <a:p>
            <a:pPr lvl="1"/>
            <a:r>
              <a:rPr/>
              <a:t>☐ </a:t>
            </a:r>
            <a:r>
              <a:rPr>
                <a:latin typeface="Courier"/>
              </a:rPr>
              <a:t>source /opt/intel/oneapi/compiler/2025.3/env/vars.sh</a:t>
            </a:r>
          </a:p>
          <a:p>
            <a:pPr lvl="1"/>
            <a:r>
              <a:rPr/>
              <a:t>☐ Export </a:t>
            </a:r>
            <a:r>
              <a:rPr>
                <a:latin typeface="Courier"/>
              </a:rPr>
              <a:t>SYCL_PROGRAM_COMPILE_OPTIONS</a:t>
            </a:r>
            <a:r>
              <a:rPr/>
              <a:t>, </a:t>
            </a:r>
            <a:r>
              <a:rPr>
                <a:latin typeface="Courier"/>
              </a:rPr>
              <a:t>IGC_VectorAliasBBThreshold</a:t>
            </a:r>
            <a:r>
              <a:rPr/>
              <a:t>, </a:t>
            </a:r>
            <a:r>
              <a:rPr>
                <a:latin typeface="Courier"/>
              </a:rPr>
              <a:t>IGC_ExtraOCLOptions</a:t>
            </a:r>
          </a:p>
          <a:p>
            <a:pPr lvl="1"/>
            <a:r>
              <a:rPr/>
              <a:t>☐ CPU governor = performance</a:t>
            </a:r>
          </a:p>
          <a:p>
            <a:pPr lvl="1"/>
            <a:r>
              <a:rPr/>
              <a:t>☐ Restore </a:t>
            </a:r>
            <a:r>
              <a:rPr>
                <a:latin typeface="Courier"/>
              </a:rPr>
              <a:t>_deps/</a:t>
            </a:r>
            <a:r>
              <a:rPr/>
              <a:t> (googlebenchmark + googletest headers)</a:t>
            </a:r>
          </a:p>
          <a:p>
            <a:pPr lvl="1"/>
            <a:r>
              <a:rPr/>
              <a:t>☐ </a:t>
            </a:r>
            <a:r>
              <a:rPr>
                <a:latin typeface="Courier"/>
              </a:rPr>
              <a:t>touch compiler_depend.ts</a:t>
            </a:r>
            <a:r>
              <a:rPr/>
              <a:t> in cmake build directory</a:t>
            </a:r>
          </a:p>
          <a:p>
            <a:pPr lvl="1"/>
            <a:r>
              <a:rPr/>
              <a:t>☐ Verify </a:t>
            </a:r>
            <a:r>
              <a:rPr>
                <a:latin typeface="Courier"/>
              </a:rPr>
              <a:t>benchmark.h</a:t>
            </a:r>
            <a:r>
              <a:rPr/>
              <a:t> exists: </a:t>
            </a:r>
            <a:r>
              <a:rPr>
                <a:latin typeface="Courier"/>
              </a:rPr>
              <a:t>ls _deps/googlebenchmark-src/include/benchmark/benchmark.h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Result directory convention (never mix runs):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results_original/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First</a:t>
                      </a:r>
                      <a:r>
                        <a:rPr/>
                        <a:t> </a:t>
                      </a:r>
                      <a:r>
                        <a:rPr/>
                        <a:t>screening</a:t>
                      </a:r>
                      <a:r>
                        <a:rPr/>
                        <a:t> </a:t>
                      </a:r>
                      <a:r>
                        <a:rPr/>
                        <a:t>(batches</a:t>
                      </a:r>
                      <a:r>
                        <a:rPr/>
                        <a:t> </a:t>
                      </a:r>
                      <a:r>
                        <a:rPr/>
                        <a:t>0066–0545)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results_rerun/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Rerun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lost</a:t>
                      </a:r>
                      <a:r>
                        <a:rPr/>
                        <a:t> </a:t>
                      </a:r>
                      <a:r>
                        <a:rPr/>
                        <a:t>batches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results_dp_only/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DataParallel</a:t>
                      </a:r>
                      <a:r>
                        <a:rPr/>
                        <a:t> </a:t>
                      </a:r>
                      <a:r>
                        <a:rPr/>
                        <a:t>targeted</a:t>
                      </a:r>
                      <a:r>
                        <a:rPr/>
                        <a:t> </a:t>
                      </a:r>
                      <a:r>
                        <a:rPr/>
                        <a:t>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results_sk_dp_sp/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StreamK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DP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SplitK</a:t>
                      </a:r>
                      <a:r>
                        <a:rPr/>
                        <a:t> </a:t>
                      </a:r>
                      <a:r>
                        <a:rPr/>
                        <a:t>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results_full_fixed/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496-batch</a:t>
                      </a:r>
                      <a:r>
                        <a:rPr/>
                        <a:t> </a:t>
                      </a:r>
                      <a:r>
                        <a:rPr/>
                        <a:t>run</a:t>
                      </a:r>
                      <a:r>
                        <a:rPr/>
                        <a:t> </a:t>
                      </a:r>
                      <a:r>
                        <a:rPr/>
                        <a:t>(old</a:t>
                      </a:r>
                      <a:r>
                        <a:rPr/>
                        <a:t> </a:t>
                      </a:r>
                      <a:r>
                        <a:rPr/>
                        <a:t>manifest)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results_final_full/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Current</a:t>
                      </a:r>
                      <a:r>
                        <a:rPr/>
                        <a:t> </a:t>
                      </a:r>
                      <a:r>
                        <a:rPr/>
                        <a:t>886-batch</a:t>
                      </a:r>
                      <a:r>
                        <a:rPr/>
                        <a:t> </a:t>
                      </a:r>
                      <a:r>
                        <a:rPr/>
                        <a:t>run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Monitor:</a:t>
            </a:r>
            <a:r>
              <a:rPr/>
              <a:t> </a:t>
            </a:r>
            <a:r>
              <a:rPr>
                <a:latin typeface="Courier"/>
              </a:rPr>
              <a:t>tail -f $WS/run_final2.log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Lessons</a:t>
            </a:r>
            <a:r>
              <a:rPr/>
              <a:t> </a:t>
            </a:r>
            <a:r>
              <a:rPr/>
              <a:t>Learned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Top pitfalls (and their fixes):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Pitfall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Perf</a:t>
                      </a:r>
                      <a:r>
                        <a:rPr/>
                        <a:t> </a:t>
                      </a:r>
                      <a:r>
                        <a:rPr/>
                        <a:t>flags</a:t>
                      </a:r>
                      <a:r>
                        <a:rPr/>
                        <a:t> </a:t>
                      </a:r>
                      <a:r>
                        <a:rPr/>
                        <a:t>not</a:t>
                      </a:r>
                      <a:r>
                        <a:rPr/>
                        <a:t> </a:t>
                      </a:r>
                      <a:r>
                        <a:rPr/>
                        <a:t>baked</a:t>
                      </a:r>
                      <a:r>
                        <a:rPr/>
                        <a:t> </a:t>
                      </a:r>
                      <a:r>
                        <a:rPr/>
                        <a:t>at</a:t>
                      </a:r>
                      <a:r>
                        <a:rPr/>
                        <a:t> </a:t>
                      </a:r>
                      <a:r>
                        <a:rPr/>
                        <a:t>compile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4.4→136</a:t>
                      </a:r>
                      <a:r>
                        <a:rPr/>
                        <a:t> </a:t>
                      </a:r>
                      <a:r>
                        <a:rPr/>
                        <a:t>TFLOPS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Export</a:t>
                      </a:r>
                      <a:r>
                        <a:rPr/>
                        <a:t> </a:t>
                      </a:r>
                      <a:r>
                        <a:rPr/>
                        <a:t>before</a:t>
                      </a:r>
                      <a:r>
                        <a:rPr/>
                        <a:t> </a:t>
                      </a:r>
                      <a:r>
                        <a:rPr/>
                        <a:t>make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GB</a:t>
                      </a:r>
                      <a:r>
                        <a:rPr/>
                        <a:t> </a:t>
                      </a:r>
                      <a:r>
                        <a:rPr/>
                        <a:t>link</a:t>
                      </a:r>
                      <a:r>
                        <a:rPr/>
                        <a:t> </a:t>
                      </a:r>
                      <a:r>
                        <a:rPr/>
                        <a:t>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cmake</a:t>
                      </a:r>
                      <a:r>
                        <a:rPr/>
                        <a:t> </a:t>
                      </a:r>
                      <a:r>
                        <a:rPr/>
                        <a:t>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Stub</a:t>
                      </a:r>
                      <a:r>
                        <a:rPr/>
                        <a:t> </a:t>
                      </a:r>
                      <a:r>
                        <a:rPr/>
                        <a:t>cmake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manual</a:t>
                      </a:r>
                      <a:r>
                        <a:rPr/>
                        <a:t> </a:t>
                      </a:r>
                      <a:r>
                        <a:rPr/>
                        <a:t>icpx</a:t>
                      </a:r>
                      <a:r>
                        <a:rPr/>
                        <a:t> </a:t>
                      </a:r>
                      <a:r>
                        <a:rPr/>
                        <a:t>link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.DELETE_ON_ERROR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.o</a:t>
                      </a:r>
                      <a:r>
                        <a:rPr/>
                        <a:t> </a:t>
                      </a:r>
                      <a:r>
                        <a:rPr/>
                        <a:t>lost</a:t>
                      </a:r>
                      <a:r>
                        <a:rPr/>
                        <a:t> </a:t>
                      </a:r>
                      <a:r>
                        <a:rPr/>
                        <a:t>every</a:t>
                      </a:r>
                      <a:r>
                        <a:rPr/>
                        <a:t> </a:t>
                      </a:r>
                      <a:r>
                        <a:rPr/>
                        <a:t>batch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sed -i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strip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gen_mini</a:t>
                      </a:r>
                      <a:r>
                        <a:rPr/>
                        <a:t> </a:t>
                      </a:r>
                      <a:r>
                        <a:rPr/>
                        <a:t>preamble</a:t>
                      </a:r>
                      <a:r>
                        <a:rPr/>
                        <a:t> </a:t>
                      </a:r>
                      <a:r>
                        <a:rPr/>
                        <a:t>stale</a:t>
                      </a:r>
                      <a:r>
                        <a:rPr/>
                        <a:t> </a:t>
                      </a:r>
                      <a:r>
                        <a:rPr/>
                        <a:t>macros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redefinition</a:t>
                      </a:r>
                      <a:r>
                        <a:rPr/>
                        <a:t> </a:t>
                      </a:r>
                      <a:r>
                        <a:rPr/>
                        <a:t>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Strip</a:t>
                      </a:r>
                      <a:r>
                        <a:rPr/>
                        <a:t> </a:t>
                      </a:r>
                      <a:r>
                        <a:rPr/>
                        <a:t>all</a:t>
                      </a:r>
                      <a:r>
                        <a:rPr/>
                        <a:t> </a:t>
                      </a:r>
                      <a:r>
                        <a:rPr/>
                        <a:t>BMG_DECLARE_*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</a:t>
                      </a:r>
                      <a:r>
                        <a:rPr/>
                        <a:t> </a:t>
                      </a:r>
                      <a:r>
                        <a:rPr/>
                        <a:t>can’t</a:t>
                      </a:r>
                      <a:r>
                        <a:rPr/>
                        <a:t> </a:t>
                      </a:r>
                      <a:r>
                        <a:rPr/>
                        <a:t>see</a:t>
                      </a:r>
                      <a:r>
                        <a:rPr/>
                        <a:t> </a:t>
                      </a:r>
                      <a:r>
                        <a:rPr/>
                        <a:t>C</a:t>
                      </a:r>
                      <a:r>
                        <a:rPr/>
                        <a:t> </a:t>
                      </a:r>
                      <a:r>
                        <a:rPr/>
                        <a:t>preprocessor</a:t>
                      </a:r>
                      <a:r>
                        <a:rPr/>
                        <a:t> </a:t>
                      </a:r>
                      <a:r>
                        <a:rPr/>
                        <a:t>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redefinition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covered()</a:t>
                      </a:r>
                      <a:r>
                        <a:rPr/>
                        <a:t> </a:t>
                      </a:r>
                      <a:r>
                        <a:rPr/>
                        <a:t>via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using</a:t>
                      </a:r>
                      <a:r>
                        <a:rPr/>
                        <a:t> </a:t>
                      </a:r>
                      <a:r>
                        <a:rPr/>
                        <a:t>text</a:t>
                      </a:r>
                      <a:r>
                        <a:rPr/>
                        <a:t> </a:t>
                      </a:r>
                      <a:r>
                        <a:rPr/>
                        <a:t>search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expanded</a:t>
                      </a:r>
                      <a:r>
                        <a:rPr/>
                        <a:t> </a:t>
                      </a:r>
                      <a:r>
                        <a:rPr/>
                        <a:t>tile</a:t>
                      </a:r>
                      <a:r>
                        <a:rPr/>
                        <a:t> </a:t>
                      </a:r>
                      <a:r>
                        <a:rPr/>
                        <a:t>sets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remote</a:t>
                      </a:r>
                      <a:r>
                        <a:rPr/>
                        <a:t> </a:t>
                      </a:r>
                      <a:r>
                        <a:rPr/>
                        <a:t>git</a:t>
                      </a:r>
                      <a:r>
                        <a:rPr/>
                        <a:t> </a:t>
                      </a:r>
                      <a:r>
                        <a:rPr/>
                        <a:t>pull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unstaged</a:t>
                      </a:r>
                      <a:r>
                        <a:rPr/>
                        <a:t> </a:t>
                      </a:r>
                      <a:r>
                        <a:rPr/>
                        <a:t>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stale</a:t>
                      </a:r>
                      <a:r>
                        <a:rPr/>
                        <a:t> </a:t>
                      </a:r>
                      <a:r>
                        <a:rPr/>
                        <a:t>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git fetch &amp;&amp; git reset --hard origin/main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results</a:t>
                      </a:r>
                      <a:r>
                        <a:rPr/>
                        <a:t> </a:t>
                      </a:r>
                      <a:r>
                        <a:rPr/>
                        <a:t>dir</a:t>
                      </a:r>
                      <a:r>
                        <a:rPr/>
                        <a:t> </a:t>
                      </a:r>
                      <a:r>
                        <a:rPr/>
                        <a:t>deleted</a:t>
                      </a:r>
                      <a:r>
                        <a:rPr/>
                        <a:t> </a:t>
                      </a:r>
                      <a:r>
                        <a:rPr/>
                        <a:t>mid-run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loss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Add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mkdir -p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batch</a:t>
                      </a:r>
                      <a:r>
                        <a:rPr/>
                        <a:t> </a:t>
                      </a:r>
                      <a:r>
                        <a:rPr/>
                        <a:t>loop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Future work:</a:t>
            </a:r>
          </a:p>
          <a:p>
            <a:pPr lvl="1"/>
            <a:r>
              <a:rPr/>
              <a:t>☐ RRR StreamK/DP/SplitK data (886-batch running, ~20h ETA)</a:t>
            </a:r>
          </a:p>
          <a:p>
            <a:pPr lvl="1"/>
            <a:r>
              <a:rPr/>
              <a:t>☐ Autotune cache: (M,N,K,dtype,arch) → best config</a:t>
            </a:r>
          </a:p>
          <a:p>
            <a:pPr lvl="1"/>
            <a:r>
              <a:rPr/>
              <a:t>☐ Multi-problem screening (M/N/K sweeps)</a:t>
            </a:r>
          </a:p>
          <a:p>
            <a:pPr lvl="1"/>
            <a:r>
              <a:rPr/>
              <a:t>☐ StreamK chunk/waves parameters (if exposed in driver)</a:t>
            </a:r>
          </a:p>
          <a:p>
            <a:pPr lvl="1"/>
            <a:r>
              <a:rPr/>
              <a:t>☐ Occupancy-bucket top-N diversity for Phase 1 → Phase 2 bridge</a:t>
            </a:r>
          </a:p>
          <a:p>
            <a:pPr lvl="0" marL="0" indent="0">
              <a:buNone/>
            </a:pPr>
            <a:r>
              <a:rPr b="1"/>
              <a:t>Code &amp; data:</a:t>
            </a:r>
            <a:r>
              <a:rPr/>
              <a:t> </a:t>
            </a:r>
            <a:r>
              <a:rPr>
                <a:hlinkClick r:id="rId2"/>
              </a:rPr>
              <a:t>github.com/tinafengfun/sycl-tla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B70 GEMM Auto-Profiling Pipeline</dc:title>
  <dc:creator>Intel Xe GPU (BMG G31)</dc:creator>
  <cp:keywords/>
  <dcterms:created xsi:type="dcterms:W3CDTF">2026-06-01T11:58:49Z</dcterms:created>
  <dcterms:modified xsi:type="dcterms:W3CDTF">2026-06-01T11:58:49Z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github.com/tinafengfun/sycl-tla</vt:lpwstr>
  </property>
</Properties>
</file>