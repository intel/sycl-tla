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3" autoAdjust="0"/>
    <p:restoredTop sz="94711" autoAdjust="0"/>
  </p:normalViewPr>
  <p:slideViewPr>
    <p:cSldViewPr snapToGrid="0" snapToObjects="1">
      <p:cViewPr varScale="1">
        <p:scale>
          <a:sx n="84" d="100"/>
          <a:sy n="84" d="100"/>
        </p:scale>
        <p:origin x="1278" y="6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
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3" Type="http://schemas.openxmlformats.org/officeDocument/2006/relationships/viewProps" Target="viewProps.xml" /><Relationship Id="rId3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5" Type="http://schemas.openxmlformats.org/officeDocument/2006/relationships/tableStyles" Target="tableStyles.xml" /><Relationship Id="rId3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B70</a:t>
            </a:r>
            <a:r>
              <a:rPr/>
              <a:t> </a:t>
            </a:r>
            <a:r>
              <a:rPr/>
              <a:t>GEMM</a:t>
            </a:r>
            <a:r>
              <a:rPr/>
              <a:t> </a:t>
            </a:r>
            <a:r>
              <a:rPr/>
              <a:t>Profiler</a:t>
            </a:r>
            <a:r>
              <a:rPr/>
              <a:t> </a:t>
            </a:r>
            <a:r>
              <a:rPr/>
              <a:t>—</a:t>
            </a:r>
            <a:r>
              <a:rPr/>
              <a:t> </a:t>
            </a:r>
            <a:r>
              <a:rPr/>
              <a:t>Technical</a:t>
            </a:r>
            <a:r>
              <a:rPr/>
              <a:t> </a:t>
            </a:r>
            <a:r>
              <a:rPr/>
              <a:t>Deep</a:t>
            </a:r>
            <a:r>
              <a:rPr/>
              <a:t> </a:t>
            </a:r>
            <a:r>
              <a:rPr/>
              <a:t>Dive</a:t>
            </a:r>
            <a:r>
              <a:rPr/>
              <a:t> </a:t>
            </a:r>
            <a:r>
              <a:rPr/>
              <a:t>(16</a:t>
            </a:r>
            <a:r>
              <a:rPr/>
              <a:t> </a:t>
            </a:r>
            <a:r>
              <a:rPr/>
              <a:t>slides)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Slide 1: Title — B70 GEMM Auto-Profiling Pipeline</a:t>
            </a:r>
          </a:p>
          <a:p>
            <a:pPr lvl="0" marL="0" indent="0">
              <a:buNone/>
            </a:pPr>
            <a:r>
              <a:rPr b="1"/>
              <a:t>Profiling Intel Xe GPU (BMG G31) with Cutlass 3.x</a:t>
            </a:r>
          </a:p>
          <a:p>
            <a:pPr lvl="1"/>
            <a:r>
              <a:rPr b="1"/>
              <a:t>6,007 lines</a:t>
            </a:r>
            <a:r>
              <a:rPr/>
              <a:t> of profiling infrastructure across 14 Python modules</a:t>
            </a:r>
          </a:p>
          <a:p>
            <a:pPr lvl="1"/>
            <a:r>
              <a:rPr b="1"/>
              <a:t>1,772 unique BF16 kernel configurations</a:t>
            </a:r>
            <a:r>
              <a:rPr/>
              <a:t> screened</a:t>
            </a:r>
          </a:p>
          <a:p>
            <a:pPr lvl="1"/>
            <a:r>
              <a:rPr b="1"/>
              <a:t>154.9 TFLOPS</a:t>
            </a:r>
            <a:r>
              <a:rPr/>
              <a:t> peak (RRR layout, 128×128×32 SG2×4)</a:t>
            </a:r>
          </a:p>
          <a:p>
            <a:pPr lvl="1"/>
            <a:r>
              <a:rPr b="1"/>
              <a:t>886 batches</a:t>
            </a:r>
            <a:r>
              <a:rPr/>
              <a:t>, 4-GPU round-robin, fully automated</a:t>
            </a:r>
          </a:p>
          <a:p>
            <a:pPr lvl="0" indent="0">
              <a:buNone/>
            </a:pPr>
            <a:r>
              <a:rPr>
                <a:latin typeface="Courier"/>
              </a:rPr>
              <a:t>Problem: M=8192, N=4096, K=1536, BF16
Hardware: BMG G31, Intel Xe driver
Compiler: Intel oneAPI 2025.3 (icpx)
Framework: Cutlass 3.x with SYCL backend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Slide 2: Profiler Module Architecture</a:t>
            </a:r>
          </a:p>
          <a:p>
            <a:pPr lvl="0" indent="0">
              <a:buNone/>
            </a:pPr>
            <a:r>
              <a:rPr>
                <a:latin typeface="Courier"/>
              </a:rPr>
              <a:t>┌──────────────────────────────────────────────────────────┐
│                 Intel GEMM Profiler                       │
│                  (6,007 lines Python)                     │
├──────────┬──────────┬──────────┬──────────┬─────────────┤
│ catalog  │constraint│ device   │ selector │  runner     │
│  945 LOC │  453 LOC │ target   │ 345 LOC  │  498 LOC    │
│ kernel   │ HW limits│  285 LOC │ filter   │  benchmark  │
│ enum     │ filtering│ GPU caps │ matching │  execution  │
├──────────┼──────────┼──────────┼──────────┼─────────────┤
│candidates│prefilter │schemas   │workflow  │ali_dataset  │
│  734 LOC │ 193 LOC  │ 260 LOC  │1384 LOC  │  190 LOC    │
│ tile×sg  │tuning    │JSON      │CLI+pipe  │Ali shapes   │
│ collision│heuristics│contract  │orchestra │dataset      │
├──────────┴──────────┴──────────┴──────────┴─────────────┤
│            Tools Layer (compile + screen)                 │
│  gen_mini_hpp.py (140 LOC)  run_seq.sh (86 LOC)          │
│  gen_main.py (36 LOC)       cmake stub (9 LOC)           │
└──────────────────────────────────────────────────────────┘</a:t>
            </a:r>
          </a:p>
          <a:p>
            <a:pPr lvl="0" marL="0" indent="0">
              <a:buNone/>
            </a:pPr>
            <a:r>
              <a:rPr b="1"/>
              <a:t>Key modules:</a:t>
            </a:r>
            <a:r>
              <a:rPr/>
              <a:t> - </a:t>
            </a:r>
            <a:r>
              <a:rPr>
                <a:latin typeface="Courier"/>
              </a:rPr>
              <a:t>catalog.py</a:t>
            </a:r>
            <a:r>
              <a:rPr/>
              <a:t>: kernel enumeration (945 lines, 4 generation functions) - </a:t>
            </a:r>
            <a:r>
              <a:rPr>
                <a:latin typeface="Courier"/>
              </a:rPr>
              <a:t>constraints.py</a:t>
            </a:r>
            <a:r>
              <a:rPr/>
              <a:t>: HW limits, tile validity gating (453 lines) - </a:t>
            </a:r>
            <a:r>
              <a:rPr>
                <a:latin typeface="Courier"/>
              </a:rPr>
              <a:t>runner.py</a:t>
            </a:r>
            <a:r>
              <a:rPr/>
              <a:t>: benchmark execution, perf counter parsing (498 lines) - </a:t>
            </a:r>
            <a:r>
              <a:rPr>
                <a:latin typeface="Courier"/>
              </a:rPr>
              <a:t>workflow.py</a:t>
            </a:r>
            <a:r>
              <a:rPr/>
              <a:t>: CLI, variant switching, JSON config (1,384 lines)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Slide 3: Kernel Coverage — Quantified</a:t>
            </a:r>
          </a:p>
          <a:p>
            <a:pPr lvl="0" marL="0" indent="0">
              <a:buNone/>
            </a:pPr>
            <a:r>
              <a:rPr b="1"/>
              <a:t>Kernel generation functions and their yield: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Source</a:t>
                      </a:r>
                      <a:r>
                        <a:rPr/>
                        <a:t> </a:t>
                      </a: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BF16-RCR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BF16-RRR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Total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>
                          <a:latin typeface="Courier"/>
                        </a:rPr>
                        <a:t>generated_expanded_streamk_kernel_catalog()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458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 b="1"/>
                        <a:t>458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>
                          <a:latin typeface="Courier"/>
                        </a:rPr>
                        <a:t>exhaustive_regular_gemm_tile_candidates()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684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684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 b="1"/>
                        <a:t>1,368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>
                          <a:latin typeface="Courier"/>
                        </a:rPr>
                        <a:t>exhaustive_streamk_tile_candidates()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192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192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 b="1"/>
                        <a:t>384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Hard-coded</a:t>
                      </a:r>
                      <a:r>
                        <a:rPr/>
                        <a:t> </a:t>
                      </a:r>
                      <a:r>
                        <a:rPr/>
                        <a:t>seed</a:t>
                      </a:r>
                      <a:r>
                        <a:rPr/>
                        <a:t> </a:t>
                      </a:r>
                      <a:r>
                        <a:rPr/>
                        <a:t>+</a:t>
                      </a:r>
                      <a:r>
                        <a:rPr/>
                        <a:t> </a:t>
                      </a:r>
                      <a:r>
                        <a:rPr/>
                        <a:t>hand-written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216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 b="1"/>
                        <a:t>218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 b="1"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 b="1"/>
                        <a:t>1,550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 b="1"/>
                        <a:t>878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 b="1"/>
                        <a:t>2,428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After</a:t>
                      </a:r>
                      <a:r>
                        <a:rPr/>
                        <a:t> </a:t>
                      </a:r>
                      <a:r>
                        <a:rPr/>
                        <a:t>dedup</a:t>
                      </a:r>
                      <a:r>
                        <a:rPr/>
                        <a:t> </a:t>
                      </a:r>
                      <a:r>
                        <a:rPr/>
                        <a:t>+</a:t>
                      </a:r>
                      <a:r>
                        <a:rPr/>
                        <a:t> </a:t>
                      </a:r>
                      <a:r>
                        <a:rPr/>
                        <a:t>SG8×8</a:t>
                      </a:r>
                      <a:r>
                        <a:rPr/>
                        <a:t> </a:t>
                      </a:r>
                      <a:r>
                        <a:rPr/>
                        <a:t>filter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 b="1"/>
                        <a:t>1,100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 b="1"/>
                        <a:t>672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 b="1"/>
                        <a:t>1,772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 b="1"/>
              <a:t>By kernel type (BF16 only, deduplicated):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Pattern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RCR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RRR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How</a:t>
                      </a:r>
                      <a:r>
                        <a:rPr/>
                        <a:t> </a:t>
                      </a:r>
                      <a:r>
                        <a:rPr/>
                        <a:t>defined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>
                          <a:latin typeface="Courier"/>
                        </a:rPr>
                        <a:t>GemmExhaustive_{tile}_SG{sg}_{ST}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684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684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>
                          <a:latin typeface="Courier"/>
                        </a:rPr>
                        <a:t>catalog.py</a:t>
                      </a:r>
                      <a:r>
                        <a:rPr/>
                        <a:t> </a:t>
                      </a:r>
                      <a:r>
                        <a:rPr/>
                        <a:t>L265–317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>
                          <a:latin typeface="Courier"/>
                        </a:rPr>
                        <a:t>Gemm_{tile}_SG{sg}</a:t>
                      </a:r>
                      <a:r>
                        <a:rPr/>
                        <a:t> </a:t>
                      </a:r>
                      <a:r>
                        <a:rPr/>
                        <a:t>(.def</a:t>
                      </a:r>
                      <a:r>
                        <a:rPr/>
                        <a:t> </a:t>
                      </a:r>
                      <a:r>
                        <a:rPr/>
                        <a:t>sourced)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76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76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>
                          <a:latin typeface="Courier"/>
                        </a:rPr>
                        <a:t>source_templates.py</a:t>
                      </a:r>
                      <a:r>
                        <a:rPr/>
                        <a:t> </a:t>
                      </a:r>
                      <a:r>
                        <a:rPr/>
                        <a:t>L75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>
                          <a:latin typeface="Courier"/>
                        </a:rPr>
                        <a:t>StreamK_{tile}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49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32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>
                          <a:latin typeface="Courier"/>
                        </a:rPr>
                        <a:t>catalog.py</a:t>
                      </a:r>
                      <a:r>
                        <a:rPr/>
                        <a:t> </a:t>
                      </a:r>
                      <a:r>
                        <a:rPr/>
                        <a:t>L124–191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>
                          <a:latin typeface="Courier"/>
                        </a:rPr>
                        <a:t>DataParallel_{tile}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49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32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>
                          <a:latin typeface="Courier"/>
                        </a:rPr>
                        <a:t>catalog.py</a:t>
                      </a:r>
                      <a:r>
                        <a:rPr/>
                        <a:t> </a:t>
                      </a:r>
                      <a:r>
                        <a:rPr/>
                        <a:t>L124–191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>
                          <a:latin typeface="Courier"/>
                        </a:rPr>
                        <a:t>SplitK_{tile}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49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32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>
                          <a:latin typeface="Courier"/>
                        </a:rPr>
                        <a:t>catalog.py</a:t>
                      </a:r>
                      <a:r>
                        <a:rPr/>
                        <a:t> </a:t>
                      </a:r>
                      <a:r>
                        <a:rPr/>
                        <a:t>L124–191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Hand-written</a:t>
                      </a:r>
                      <a:r>
                        <a:rPr/>
                        <a:t> </a:t>
                      </a:r>
                      <a:r>
                        <a:rPr/>
                        <a:t>(</a:t>
                      </a:r>
                      <a:r>
                        <a:rPr>
                          <a:latin typeface="Courier"/>
                        </a:rPr>
                        <a:t>RCR_N</a:t>
                      </a:r>
                      <a:r>
                        <a:rPr/>
                        <a:t>,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RRR_N</a:t>
                      </a:r>
                      <a:r>
                        <a:rPr/>
                        <a:t>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>
                          <a:latin typeface="Courier"/>
                        </a:rPr>
                        <a:t>benchmarks_sycl.hpp</a:t>
                      </a:r>
                      <a:r>
                        <a:rPr/>
                        <a:t> </a:t>
                      </a:r>
                      <a:r>
                        <a:rPr/>
                        <a:t>L200–280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Slide 4: Search Space Dimensions</a:t>
            </a:r>
          </a:p>
          <a:p>
            <a:pPr lvl="0" marL="0" indent="0">
              <a:buNone/>
            </a:pPr>
            <a:r>
              <a:rPr b="1"/>
              <a:t>Compute shape (Phase 1):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Dimension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Range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Constraint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tile_m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{8,</a:t>
                      </a:r>
                      <a:r>
                        <a:rPr/>
                        <a:t> </a:t>
                      </a:r>
                      <a:r>
                        <a:rPr/>
                        <a:t>16,</a:t>
                      </a:r>
                      <a:r>
                        <a:rPr/>
                        <a:t> </a:t>
                      </a:r>
                      <a:r>
                        <a:rPr/>
                        <a:t>32,</a:t>
                      </a:r>
                      <a:r>
                        <a:rPr/>
                        <a:t> </a:t>
                      </a:r>
                      <a:r>
                        <a:rPr/>
                        <a:t>64,</a:t>
                      </a:r>
                      <a:r>
                        <a:rPr/>
                        <a:t> </a:t>
                      </a:r>
                      <a:r>
                        <a:rPr/>
                        <a:t>128,</a:t>
                      </a:r>
                      <a:r>
                        <a:rPr/>
                        <a:t> </a:t>
                      </a:r>
                      <a:r>
                        <a:rPr/>
                        <a:t>256,</a:t>
                      </a:r>
                      <a:r>
                        <a:rPr/>
                        <a:t> </a:t>
                      </a:r>
                      <a:r>
                        <a:rPr/>
                        <a:t>512}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×</a:t>
                      </a:r>
                      <a:r>
                        <a:rPr/>
                        <a:t> </a:t>
                      </a:r>
                      <a:r>
                        <a:rPr/>
                        <a:t>tile_n</a:t>
                      </a:r>
                      <a:r>
                        <a:rPr/>
                        <a:t> </a:t>
                      </a:r>
                      <a:r>
                        <a:rPr/>
                        <a:t>×</a:t>
                      </a:r>
                      <a:r>
                        <a:rPr/>
                        <a:t> </a:t>
                      </a:r>
                      <a:r>
                        <a:rPr/>
                        <a:t>tile_k</a:t>
                      </a:r>
                      <a:r>
                        <a:rPr/>
                        <a:t> </a:t>
                      </a:r>
                      <a:r>
                        <a:rPr/>
                        <a:t>≤</a:t>
                      </a:r>
                      <a:r>
                        <a:rPr/>
                        <a:t> </a:t>
                      </a:r>
                      <a:r>
                        <a:rPr/>
                        <a:t>LDS</a:t>
                      </a:r>
                      <a:r>
                        <a:rPr/>
                        <a:t> </a:t>
                      </a:r>
                      <a:r>
                        <a:rPr/>
                        <a:t>budget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tile_n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{32,</a:t>
                      </a:r>
                      <a:r>
                        <a:rPr/>
                        <a:t> </a:t>
                      </a:r>
                      <a:r>
                        <a:rPr/>
                        <a:t>64,</a:t>
                      </a:r>
                      <a:r>
                        <a:rPr/>
                        <a:t> </a:t>
                      </a:r>
                      <a:r>
                        <a:rPr/>
                        <a:t>96,</a:t>
                      </a:r>
                      <a:r>
                        <a:rPr/>
                        <a:t> </a:t>
                      </a:r>
                      <a:r>
                        <a:rPr/>
                        <a:t>128,</a:t>
                      </a:r>
                      <a:r>
                        <a:rPr/>
                        <a:t> </a:t>
                      </a:r>
                      <a:r>
                        <a:rPr/>
                        <a:t>192,</a:t>
                      </a:r>
                      <a:r>
                        <a:rPr/>
                        <a:t> </a:t>
                      </a:r>
                      <a:r>
                        <a:rPr/>
                        <a:t>256,</a:t>
                      </a:r>
                      <a:r>
                        <a:rPr/>
                        <a:t> </a:t>
                      </a:r>
                      <a:r>
                        <a:rPr/>
                        <a:t>512}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tile_n</a:t>
                      </a:r>
                      <a:r>
                        <a:rPr/>
                        <a:t> </a:t>
                      </a:r>
                      <a:r>
                        <a:rPr/>
                        <a:t>%</a:t>
                      </a:r>
                      <a:r>
                        <a:rPr/>
                        <a:t> </a:t>
                      </a:r>
                      <a:r>
                        <a:rPr/>
                        <a:t>(sg_n</a:t>
                      </a:r>
                      <a:r>
                        <a:rPr/>
                        <a:t> </a:t>
                      </a:r>
                      <a:r>
                        <a:rPr/>
                        <a:t>×</a:t>
                      </a:r>
                      <a:r>
                        <a:rPr/>
                        <a:t> </a:t>
                      </a:r>
                      <a:r>
                        <a:rPr/>
                        <a:t>16)</a:t>
                      </a:r>
                      <a:r>
                        <a:rPr/>
                        <a:t> </a:t>
                      </a:r>
                      <a:r>
                        <a:rPr/>
                        <a:t>=</a:t>
                      </a:r>
                      <a:r>
                        <a:rPr/>
                        <a:t> </a:t>
                      </a: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tile_k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{16,</a:t>
                      </a:r>
                      <a:r>
                        <a:rPr/>
                        <a:t> </a:t>
                      </a:r>
                      <a:r>
                        <a:rPr/>
                        <a:t>32,</a:t>
                      </a:r>
                      <a:r>
                        <a:rPr/>
                        <a:t> </a:t>
                      </a:r>
                      <a:r>
                        <a:rPr/>
                        <a:t>64}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tile_k</a:t>
                      </a:r>
                      <a:r>
                        <a:rPr/>
                        <a:t> </a:t>
                      </a:r>
                      <a:r>
                        <a:rPr/>
                        <a:t>%</a:t>
                      </a:r>
                      <a:r>
                        <a:rPr/>
                        <a:t> </a:t>
                      </a:r>
                      <a:r>
                        <a:rPr/>
                        <a:t>16</a:t>
                      </a:r>
                      <a:r>
                        <a:rPr/>
                        <a:t> </a:t>
                      </a:r>
                      <a:r>
                        <a:rPr/>
                        <a:t>=</a:t>
                      </a:r>
                      <a:r>
                        <a:rPr/>
                        <a:t> </a:t>
                      </a: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sg_m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{1,</a:t>
                      </a:r>
                      <a:r>
                        <a:rPr/>
                        <a:t> </a:t>
                      </a:r>
                      <a:r>
                        <a:rPr/>
                        <a:t>2,</a:t>
                      </a:r>
                      <a:r>
                        <a:rPr/>
                        <a:t> </a:t>
                      </a:r>
                      <a:r>
                        <a:rPr/>
                        <a:t>4,</a:t>
                      </a:r>
                      <a:r>
                        <a:rPr/>
                        <a:t> </a:t>
                      </a:r>
                      <a:r>
                        <a:rPr/>
                        <a:t>8}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sg_m</a:t>
                      </a:r>
                      <a:r>
                        <a:rPr/>
                        <a:t> </a:t>
                      </a:r>
                      <a:r>
                        <a:rPr/>
                        <a:t>×</a:t>
                      </a:r>
                      <a:r>
                        <a:rPr/>
                        <a:t> </a:t>
                      </a:r>
                      <a:r>
                        <a:rPr/>
                        <a:t>sg_n</a:t>
                      </a:r>
                      <a:r>
                        <a:rPr/>
                        <a:t> </a:t>
                      </a:r>
                      <a:r>
                        <a:rPr/>
                        <a:t>∈</a:t>
                      </a:r>
                      <a:r>
                        <a:rPr/>
                        <a:t> </a:t>
                      </a:r>
                      <a:r>
                        <a:rPr/>
                        <a:t>{16,</a:t>
                      </a:r>
                      <a:r>
                        <a:rPr/>
                        <a:t> </a:t>
                      </a:r>
                      <a:r>
                        <a:rPr/>
                        <a:t>32}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sg_n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{2,</a:t>
                      </a:r>
                      <a:r>
                        <a:rPr/>
                        <a:t> </a:t>
                      </a:r>
                      <a:r>
                        <a:rPr/>
                        <a:t>4,</a:t>
                      </a:r>
                      <a:r>
                        <a:rPr/>
                        <a:t> </a:t>
                      </a:r>
                      <a:r>
                        <a:rPr/>
                        <a:t>8}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B70</a:t>
                      </a:r>
                      <a:r>
                        <a:rPr/>
                        <a:t> </a:t>
                      </a:r>
                      <a:r>
                        <a:rPr/>
                        <a:t>HW</a:t>
                      </a:r>
                      <a:r>
                        <a:rPr/>
                        <a:t> </a:t>
                      </a:r>
                      <a:r>
                        <a:rPr/>
                        <a:t>max</a:t>
                      </a:r>
                      <a:r>
                        <a:rPr/>
                        <a:t> </a:t>
                      </a:r>
                      <a:r>
                        <a:rPr/>
                        <a:t>subgroup</a:t>
                      </a:r>
                      <a:r>
                        <a:rPr/>
                        <a:t> </a:t>
                      </a:r>
                      <a:r>
                        <a:rPr/>
                        <a:t>=</a:t>
                      </a:r>
                      <a:r>
                        <a:rPr/>
                        <a:t> </a:t>
                      </a:r>
                      <a:r>
                        <a:rPr/>
                        <a:t>32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stages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{1,</a:t>
                      </a:r>
                      <a:r>
                        <a:rPr/>
                        <a:t> </a:t>
                      </a:r>
                      <a:r>
                        <a:rPr/>
                        <a:t>2,</a:t>
                      </a:r>
                      <a:r>
                        <a:rPr/>
                        <a:t> </a:t>
                      </a:r>
                      <a:r>
                        <a:rPr/>
                        <a:t>3}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>
                          <a:latin typeface="Courier"/>
                        </a:rPr>
                        <a:t>EXHAUSTIVE_REGULAR_GEMM_STAGES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scheduler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{Gemm,</a:t>
                      </a:r>
                      <a:r>
                        <a:rPr/>
                        <a:t> </a:t>
                      </a:r>
                      <a:r>
                        <a:rPr/>
                        <a:t>StreamK,</a:t>
                      </a:r>
                      <a:r>
                        <a:rPr/>
                        <a:t> </a:t>
                      </a:r>
                      <a:r>
                        <a:rPr/>
                        <a:t>DP,</a:t>
                      </a:r>
                      <a:r>
                        <a:rPr/>
                        <a:t> </a:t>
                      </a:r>
                      <a:r>
                        <a:rPr/>
                        <a:t>SplitK}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StreamK/DP/SplitK:</a:t>
                      </a:r>
                      <a:r>
                        <a:rPr/>
                        <a:t> </a:t>
                      </a:r>
                      <a:r>
                        <a:rPr/>
                        <a:t>SG</a:t>
                      </a:r>
                      <a:r>
                        <a:rPr/>
                        <a:t> </a:t>
                      </a:r>
                      <a:r>
                        <a:rPr/>
                        <a:t>fixed</a:t>
                      </a:r>
                      <a:r>
                        <a:rPr/>
                        <a:t> </a:t>
                      </a:r>
                      <a:r>
                        <a:rPr/>
                        <a:t>8×4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layout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{RCR,</a:t>
                      </a:r>
                      <a:r>
                        <a:rPr/>
                        <a:t> </a:t>
                      </a:r>
                      <a:r>
                        <a:rPr/>
                        <a:t>RRR}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A:</a:t>
                      </a:r>
                      <a:r>
                        <a:rPr/>
                        <a:t> </a:t>
                      </a:r>
                      <a:r>
                        <a:rPr/>
                        <a:t>RowMajor,</a:t>
                      </a:r>
                      <a:r>
                        <a:rPr/>
                        <a:t> </a:t>
                      </a:r>
                      <a:r>
                        <a:rPr/>
                        <a:t>B:</a:t>
                      </a:r>
                      <a:r>
                        <a:rPr/>
                        <a:t> </a:t>
                      </a:r>
                      <a:r>
                        <a:rPr/>
                        <a:t>ColumnMajor</a:t>
                      </a:r>
                      <a:r>
                        <a:rPr/>
                        <a:t> </a:t>
                      </a:r>
                      <a:r>
                        <a:rPr/>
                        <a:t>or</a:t>
                      </a:r>
                      <a:r>
                        <a:rPr/>
                        <a:t> </a:t>
                      </a:r>
                      <a:r>
                        <a:rPr/>
                        <a:t>RowMajor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 b="1"/>
              <a:t>Validation: </a:t>
            </a:r>
            <a:r>
              <a:rPr b="1">
                <a:latin typeface="Courier"/>
              </a:rPr>
              <a:t>is_valid_xe2_tile_sg()</a:t>
            </a:r>
            <a:r>
              <a:rPr/>
              <a:t> (</a:t>
            </a:r>
            <a:r>
              <a:rPr>
                <a:latin typeface="Courier"/>
              </a:rPr>
              <a:t>source_templates.py</a:t>
            </a:r>
            <a:r>
              <a:rPr/>
              <a:t> L75):</a:t>
            </a:r>
          </a:p>
          <a:p>
            <a:pPr lvl="0" indent="0">
              <a:buNone/>
            </a:pPr>
            <a:r>
              <a:rPr>
                <a:latin typeface="Courier"/>
              </a:rPr>
              <a:t>tile_m </a:t>
            </a:r>
            <a:r>
              <a:rPr>
                <a:solidFill>
                  <a:srgbClr val="666666"/>
                </a:solidFill>
                <a:latin typeface="Courier"/>
              </a:rPr>
              <a:t>%</a:t>
            </a:r>
            <a:r>
              <a:rPr>
                <a:latin typeface="Courier"/>
              </a:rPr>
              <a:t> (sg_m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8</a:t>
            </a:r>
            <a:r>
              <a:rPr>
                <a:latin typeface="Courier"/>
              </a:rPr>
              <a:t>)  </a:t>
            </a:r>
            <a:r>
              <a:rPr>
                <a:solidFill>
                  <a:srgbClr val="666666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   </a:t>
            </a:r>
            <a:r>
              <a:rPr i="1">
                <a:solidFill>
                  <a:srgbClr val="60A0B0"/>
                </a:solidFill>
                <a:latin typeface="Courier"/>
              </a:rPr>
              <a:t># M alignment to atom</a:t>
            </a:r>
            <a:br/>
            <a:r>
              <a:rPr>
                <a:latin typeface="Courier"/>
              </a:rPr>
              <a:t>tile_n </a:t>
            </a:r>
            <a:r>
              <a:rPr>
                <a:solidFill>
                  <a:srgbClr val="666666"/>
                </a:solidFill>
                <a:latin typeface="Courier"/>
              </a:rPr>
              <a:t>%</a:t>
            </a:r>
            <a:r>
              <a:rPr>
                <a:latin typeface="Courier"/>
              </a:rPr>
              <a:t> (sg_n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16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666666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   </a:t>
            </a:r>
            <a:r>
              <a:rPr i="1">
                <a:solidFill>
                  <a:srgbClr val="60A0B0"/>
                </a:solidFill>
                <a:latin typeface="Courier"/>
              </a:rPr>
              <a:t># N alignment to atom</a:t>
            </a:r>
            <a:br/>
            <a:r>
              <a:rPr>
                <a:latin typeface="Courier"/>
              </a:rPr>
              <a:t>tile_k </a:t>
            </a:r>
            <a:r>
              <a:rPr>
                <a:solidFill>
                  <a:srgbClr val="666666"/>
                </a:solidFill>
                <a:latin typeface="Courier"/>
              </a:rPr>
              <a:t>%</a:t>
            </a:r>
            <a:r>
              <a:rPr>
                <a:latin typeface="Courier"/>
              </a:rPr>
              <a:t> 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16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666666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     </a:t>
            </a:r>
            <a:r>
              <a:rPr i="1">
                <a:solidFill>
                  <a:srgbClr val="60A0B0"/>
                </a:solidFill>
                <a:latin typeface="Courier"/>
              </a:rPr>
              <a:t># K alignment to atom</a:t>
            </a:r>
            <a:br/>
            <a:r>
              <a:rPr>
                <a:latin typeface="Courier"/>
              </a:rPr>
              <a:t>sg_m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sg_n ∈ {</a:t>
            </a:r>
            <a:r>
              <a:rPr>
                <a:solidFill>
                  <a:srgbClr val="40A070"/>
                </a:solidFill>
                <a:latin typeface="Courier"/>
              </a:rPr>
              <a:t>16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32</a:t>
            </a:r>
            <a:r>
              <a:rPr>
                <a:latin typeface="Courier"/>
              </a:rPr>
              <a:t>}       </a:t>
            </a:r>
            <a:r>
              <a:rPr i="1">
                <a:solidFill>
                  <a:srgbClr val="60A0B0"/>
                </a:solidFill>
                <a:latin typeface="Courier"/>
              </a:rPr>
              <a:t># B70 subgroup product</a:t>
            </a:r>
            <a:br/>
            <a:r>
              <a:rPr>
                <a:latin typeface="Courier"/>
              </a:rPr>
              <a:t>reg_m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reg_n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16</a:t>
            </a:r>
            <a:r>
              <a:rPr>
                <a:latin typeface="Courier"/>
              </a:rPr>
              <a:t> ≤ </a:t>
            </a:r>
            <a:r>
              <a:rPr>
                <a:solidFill>
                  <a:srgbClr val="40A070"/>
                </a:solidFill>
                <a:latin typeface="Courier"/>
              </a:rPr>
              <a:t>256</a:t>
            </a:r>
            <a:r>
              <a:rPr>
                <a:latin typeface="Courier"/>
              </a:rPr>
              <a:t>     </a:t>
            </a:r>
            <a:r>
              <a:rPr i="1">
                <a:solidFill>
                  <a:srgbClr val="60A0B0"/>
                </a:solidFill>
                <a:latin typeface="Courier"/>
              </a:rPr>
              <a:t># GRF register pressure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Slide 5: Catalog Generation Layers</a:t>
            </a:r>
          </a:p>
          <a:p>
            <a:pPr lvl="0" marL="0" indent="0">
              <a:buNone/>
            </a:pPr>
            <a:r>
              <a:rPr b="1">
                <a:latin typeface="Courier"/>
              </a:rPr>
              <a:t>generated_layered_bmg_kernel_catalog()</a:t>
            </a:r>
            <a:r>
              <a:rPr b="1"/>
              <a:t> (L631–730, 100 lines):</a:t>
            </a:r>
          </a:p>
          <a:p>
            <a:pPr lvl="0" indent="0">
              <a:buNone/>
            </a:pPr>
            <a:r>
              <a:rPr>
                <a:latin typeface="Courier"/>
              </a:rPr>
              <a:t>Layer 0: generated_expanded_streamk_kernel_catalog()   →  458 kernels
    │   (hand-crafted + expanded + StreamK seeds)
    │
Layer 1: exhaustive_regular_gemm_tile_candidates()      → +684 RCR
    │   (full tile×sg×stage enumeration, layout=rcr)
    │
Layer 2: exhaustive_regular_gemm_tile_candidates(       → +684 RRR
    │        layout=rrr)  ← added in later patch
    │
Layer 3: exhaustive_streamk_tile_candidates()           → +192 RCR
    │   (StreamK/DP/SplitK for all legal tiles, K≥32)
    │
Layer 4: exhaustive_streamk_tile_candidates(            → +192 RRR
    │        layout=rrr)  ← added in later patch
    │
    ▼
    Dedup by kernel_name + filter SG8×8 + exclude example kernels
    = 1,772 kernels → 886 batches (2/batch)</a:t>
            </a:r>
          </a:p>
          <a:p>
            <a:pPr lvl="0" marL="0" indent="0">
              <a:buNone/>
            </a:pPr>
            <a:r>
              <a:rPr b="1"/>
              <a:t>Why layered?</a:t>
            </a:r>
            <a:r>
              <a:rPr/>
              <a:t> Allows incremental addition of search dimensions without regenerating everything. Each layer can be toggled independently via constraints.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Slide 6: Template Generation — gen_mini_hpp.py Deep Dive</a:t>
            </a:r>
          </a:p>
          <a:p>
            <a:pPr lvl="0" marL="0" indent="0">
              <a:buNone/>
            </a:pPr>
            <a:r>
              <a:rPr b="1"/>
              <a:t>Problem:</a:t>
            </a:r>
            <a:r>
              <a:rPr/>
              <a:t> Full </a:t>
            </a:r>
            <a:r>
              <a:rPr>
                <a:latin typeface="Courier"/>
              </a:rPr>
              <a:t>benchmarks_sycl.hpp</a:t>
            </a:r>
            <a:r>
              <a:rPr/>
              <a:t> = 835 lines, 300+ macro-generated types. IGC faces 500+ kernel types even for a 2-kernel batch.</a:t>
            </a:r>
          </a:p>
          <a:p>
            <a:pPr lvl="0" marL="0" indent="0">
              <a:buNone/>
            </a:pPr>
            <a:r>
              <a:rPr b="1"/>
              <a:t>Design (140 lines, 6 functions):</a:t>
            </a:r>
          </a:p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gen_mini(kernels, output):</a:t>
            </a:r>
            <a:br/>
            <a:r>
              <a:rPr>
                <a:latin typeface="Courier"/>
              </a:rPr>
              <a:t>    text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full_text()                    </a:t>
            </a:r>
            <a:r>
              <a:rPr i="1">
                <a:solidFill>
                  <a:srgbClr val="60A0B0"/>
                </a:solidFill>
                <a:latin typeface="Courier"/>
              </a:rPr>
              <a:t># Read full HPP</a:t>
            </a:r>
            <a:br/>
            <a:r>
              <a:rPr>
                <a:latin typeface="Courier"/>
              </a:rPr>
              <a:t>    </a:t>
            </a:r>
            <a:br/>
            <a:r>
              <a:rPr>
                <a:latin typeface="Courier"/>
              </a:rPr>
              <a:t>    </a:t>
            </a:r>
            <a:r>
              <a:rPr i="1">
                <a:solidFill>
                  <a:srgbClr val="60A0B0"/>
                </a:solidFill>
                <a:latin typeface="Courier"/>
              </a:rPr>
              <a:t># 1. STRIP preamble: remove ALL BMG_DECLARE_*/BMG_REGISTER_*/BMG_SOURCE_*</a:t>
            </a:r>
            <a:br/>
            <a:r>
              <a:rPr>
                <a:latin typeface="Courier"/>
              </a:rPr>
              <a:t>    </a:t>
            </a:r>
            <a:r>
              <a:rPr i="1">
                <a:solidFill>
                  <a:srgbClr val="60A0B0"/>
                </a:solidFill>
                <a:latin typeface="Courier"/>
              </a:rPr>
              <a:t>#    macro calls and .def includes (but keep #define definitions)</a:t>
            </a:r>
            <a:br/>
            <a:r>
              <a:rPr>
                <a:latin typeface="Courier"/>
              </a:rPr>
              <a:t>    preamble_lines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[]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line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text[:register_pos].split(</a:t>
            </a:r>
            <a:r>
              <a:rPr>
                <a:solidFill>
                  <a:srgbClr val="4070A0"/>
                </a:solidFill>
                <a:latin typeface="Courier"/>
              </a:rPr>
              <a:t>'\n'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re.match(</a:t>
            </a:r>
            <a:r>
              <a:rPr>
                <a:solidFill>
                  <a:srgbClr val="4070A0"/>
                </a:solidFill>
                <a:latin typeface="Courier"/>
              </a:rPr>
              <a:t>r'^(BMG_DECLARE_|BMG_REGISTER_|BMG_SOURCE_)\('</a:t>
            </a:r>
            <a:r>
              <a:rPr>
                <a:latin typeface="Courier"/>
              </a:rPr>
              <a:t>, stripped):</a:t>
            </a:r>
            <a:br/>
            <a:r>
              <a:rPr>
                <a:latin typeface="Courier"/>
              </a:rPr>
              <a:t>            </a:t>
            </a:r>
            <a:r>
              <a:rPr b="1">
                <a:solidFill>
                  <a:srgbClr val="007020"/>
                </a:solidFill>
                <a:latin typeface="Courier"/>
              </a:rPr>
              <a:t>continue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'.def'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stripped: </a:t>
            </a:r>
            <a:r>
              <a:rPr b="1">
                <a:solidFill>
                  <a:srgbClr val="007020"/>
                </a:solidFill>
                <a:latin typeface="Courier"/>
              </a:rPr>
              <a:t>continue</a:t>
            </a:r>
            <a:br/>
            <a:r>
              <a:rPr>
                <a:latin typeface="Courier"/>
              </a:rPr>
              <a:t>        preamble_lines.append(line)</a:t>
            </a:r>
            <a:br/>
            <a:r>
              <a:rPr>
                <a:latin typeface="Courier"/>
              </a:rPr>
              <a:t>    </a:t>
            </a:r>
            <a:br/>
            <a:r>
              <a:rPr>
                <a:latin typeface="Courier"/>
              </a:rPr>
              <a:t>    </a:t>
            </a:r>
            <a:r>
              <a:rPr i="1">
                <a:solidFill>
                  <a:srgbClr val="60A0B0"/>
                </a:solidFill>
                <a:latin typeface="Courier"/>
              </a:rPr>
              <a:t># 2. GENERATE batch-specific types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k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kernels:</a:t>
            </a:r>
            <a:br/>
            <a:r>
              <a:rPr>
                <a:latin typeface="Courier"/>
              </a:rPr>
              <a:t>        t, pfx, p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classify(k)          </a:t>
            </a:r>
            <a:r>
              <a:rPr i="1">
                <a:solidFill>
                  <a:srgbClr val="60A0B0"/>
                </a:solidFill>
                <a:latin typeface="Courier"/>
              </a:rPr>
              <a:t># regex: 'ge', 'gs', 'sk', 'hw'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t </a:t>
            </a:r>
            <a:r>
              <a:rPr>
                <a:solidFill>
                  <a:srgbClr val="666666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'ge'</a:t>
            </a:r>
            <a:r>
              <a:rPr>
                <a:latin typeface="Courier"/>
              </a:rPr>
              <a:t>:</a:t>
            </a:r>
            <a:br/>
            <a:r>
              <a:rPr>
                <a:latin typeface="Courier"/>
              </a:rPr>
              <a:t>            declares.append(BMG_DECLARE_EXHAUSTIVE_GEMM_TILE_STAGE(...))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elif</a:t>
            </a:r>
            <a:r>
              <a:rPr>
                <a:latin typeface="Courier"/>
              </a:rPr>
              <a:t> t </a:t>
            </a:r>
            <a:r>
              <a:rPr>
                <a:solidFill>
                  <a:srgbClr val="666666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'gs'</a:t>
            </a:r>
            <a:r>
              <a:rPr>
                <a:latin typeface="Courier"/>
              </a:rPr>
              <a:t>:</a:t>
            </a:r>
            <a:br/>
            <a:r>
              <a:rPr>
                <a:latin typeface="Courier"/>
              </a:rPr>
              <a:t>            declares.append(BMG_DECLARE_GEMM_TILE_SG(...))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else</a:t>
            </a:r>
            <a:r>
              <a:rPr>
                <a:latin typeface="Courier"/>
              </a:rPr>
              <a:t>:  </a:t>
            </a:r>
            <a:r>
              <a:rPr i="1">
                <a:solidFill>
                  <a:srgbClr val="60A0B0"/>
                </a:solidFill>
                <a:latin typeface="Courier"/>
              </a:rPr>
              <a:t># sk — direct C++ type generation</a:t>
            </a:r>
            <a:br/>
            <a:r>
              <a:rPr>
                <a:latin typeface="Courier"/>
              </a:rPr>
              <a:t>            declares.append(using TileShape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Shape</a:t>
            </a:r>
            <a:r>
              <a:rPr>
                <a:solidFill>
                  <a:srgbClr val="666666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M,N,K</a:t>
            </a:r>
            <a:r>
              <a:rPr>
                <a:solidFill>
                  <a:srgbClr val="666666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          declares.append(using Tiler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TiledMMAHelper</a:t>
            </a:r>
            <a:r>
              <a:rPr>
                <a:solidFill>
                  <a:srgbClr val="666666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...</a:t>
            </a:r>
            <a:r>
              <a:rPr>
                <a:solidFill>
                  <a:srgbClr val="666666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::TiledMMA)</a:t>
            </a:r>
            <a:br/>
            <a:r>
              <a:rPr>
                <a:latin typeface="Courier"/>
              </a:rPr>
              <a:t>            declares.append(using K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GemmConfiguration</a:t>
            </a:r>
            <a:r>
              <a:rPr>
                <a:solidFill>
                  <a:srgbClr val="666666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..., Scheduler::X, ...</a:t>
            </a:r>
            <a:r>
              <a:rPr>
                <a:solidFill>
                  <a:srgbClr val="666666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          declares.append(CUTLASS_CREATE_GEMM_BENCHMARK(K))</a:t>
            </a:r>
            <a:br/>
            <a:r>
              <a:rPr>
                <a:latin typeface="Courier"/>
              </a:rPr>
              <a:t>    </a:t>
            </a:r>
            <a:br/>
            <a:r>
              <a:rPr>
                <a:latin typeface="Courier"/>
              </a:rPr>
              <a:t>    </a:t>
            </a:r>
            <a:r>
              <a:rPr i="1">
                <a:solidFill>
                  <a:srgbClr val="60A0B0"/>
                </a:solidFill>
                <a:latin typeface="Courier"/>
              </a:rPr>
              <a:t># 3. OVERRIDE register_gemm_benchmarks()</a:t>
            </a:r>
            <a:br/>
            <a:r>
              <a:rPr>
                <a:latin typeface="Courier"/>
              </a:rPr>
              <a:t>    new_text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preamble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declares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register_block</a:t>
            </a:r>
          </a:p>
          <a:p>
            <a:pPr lvl="0" marL="0" indent="0">
              <a:buNone/>
            </a:pPr>
            <a:r>
              <a:rPr b="1"/>
              <a:t>Key pitfall:</a:t>
            </a:r>
            <a:r>
              <a:rPr/>
              <a:t> Python regex cannot see C++ preprocessor output. </a:t>
            </a:r>
            <a:r>
              <a:rPr>
                <a:latin typeface="Courier"/>
              </a:rPr>
              <a:t>covered()</a:t>
            </a:r>
            <a:r>
              <a:rPr/>
              <a:t> must check both literal </a:t>
            </a:r>
            <a:r>
              <a:rPr>
                <a:latin typeface="Courier"/>
              </a:rPr>
              <a:t>using</a:t>
            </a:r>
            <a:r>
              <a:rPr/>
              <a:t> declarations and known expanded tile sets.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Slide 7: Build System — cmake + icpx Pipeline</a:t>
            </a:r>
          </a:p>
          <a:p>
            <a:pPr lvl="0" marL="0" indent="0">
              <a:buNone/>
            </a:pPr>
            <a:r>
              <a:rPr b="1"/>
              <a:t>Compile flags baked at make time (critical!):</a:t>
            </a:r>
          </a:p>
          <a:p>
            <a:pPr lvl="0" indent="0">
              <a:buNone/>
            </a:pPr>
            <a:r>
              <a:rPr>
                <a:latin typeface="Courier"/>
              </a:rPr>
              <a:t>export </a:t>
            </a:r>
            <a:r>
              <a:rPr>
                <a:solidFill>
                  <a:srgbClr val="19177C"/>
                </a:solidFill>
                <a:latin typeface="Courier"/>
              </a:rPr>
              <a:t>SYCL_PROGRAM_COMPILE_OPTIONS=</a:t>
            </a:r>
            <a:r>
              <a:rPr>
                <a:solidFill>
                  <a:srgbClr val="4070A0"/>
                </a:solidFill>
                <a:latin typeface="Courier"/>
              </a:rPr>
              <a:t>"-ze-opt-large-register-file -gline-tables-only"</a:t>
            </a:r>
            <a:br/>
            <a:r>
              <a:rPr>
                <a:latin typeface="Courier"/>
              </a:rPr>
              <a:t>export </a:t>
            </a:r>
            <a:r>
              <a:rPr>
                <a:solidFill>
                  <a:srgbClr val="19177C"/>
                </a:solidFill>
                <a:latin typeface="Courier"/>
              </a:rPr>
              <a:t>IGC_VectorAliasBBThreshold=</a:t>
            </a:r>
            <a:r>
              <a:rPr>
                <a:latin typeface="Courier"/>
              </a:rPr>
              <a:t>10000</a:t>
            </a:r>
            <a:br/>
            <a:r>
              <a:rPr>
                <a:latin typeface="Courier"/>
              </a:rPr>
              <a:t>export </a:t>
            </a:r>
            <a:r>
              <a:rPr>
                <a:solidFill>
                  <a:srgbClr val="19177C"/>
                </a:solidFill>
                <a:latin typeface="Courier"/>
              </a:rPr>
              <a:t>IGC_ExtraOCLOptions=</a:t>
            </a:r>
            <a:r>
              <a:rPr>
                <a:solidFill>
                  <a:srgbClr val="4070A0"/>
                </a:solidFill>
                <a:latin typeface="Courier"/>
              </a:rPr>
              <a:t>"-cl-intel-256-GRF-per-thread"</a:t>
            </a:r>
          </a:p>
          <a:p>
            <a:pPr lvl="0" marL="0" indent="0">
              <a:buNone/>
            </a:pPr>
            <a:r>
              <a:rPr b="1"/>
              <a:t>Without these: 4 TFLOPS. With them: 155 TFLOPS.</a:t>
            </a:r>
          </a:p>
          <a:p>
            <a:pPr lvl="0" marL="0" indent="0">
              <a:buNone/>
            </a:pPr>
            <a:r>
              <a:rPr b="1"/>
              <a:t>Per-batch build flow (86-line </a:t>
            </a:r>
            <a:r>
              <a:rPr b="1">
                <a:latin typeface="Courier"/>
              </a:rPr>
              <a:t>run_seq.sh</a:t>
            </a:r>
            <a:r>
              <a:rPr b="1"/>
              <a:t>):</a:t>
            </a:r>
          </a:p>
          <a:p>
            <a:pPr lvl="0" indent="0">
              <a:buNone/>
            </a:pPr>
            <a:r>
              <a:rPr>
                <a:latin typeface="Courier"/>
              </a:rPr>
              <a:t>Step 1: git checkout -- benchmarks_sycl.hpp             # restore clean state
Step 2: python3 gen_mini_hpp.py --manifest batch.txt    # 0.1s
Step 3: python3 gen_main.py batch.txt main.cpp          # 0.1s
Step 4: touch compiler_depend.ts                         # prevent cmake reconfigure
Step 5: sed -i "/^\.DELETE_ON_ERROR/d" build.make        # keep .o on link fail
Step 6: make cutlass_benchmarks_gemm_sycl -j128          # 33s compile
Step 7: icpx -fsycl -device bmg-g31 manual link          # 1s (GB stub)
Step 8: ZE_AFFINITY_MASK=$gpu ./binary --kernel=NAME     # 15s/kernel</a:t>
            </a:r>
          </a:p>
          <a:p>
            <a:pPr lvl="0" marL="0" indent="0">
              <a:buNone/>
            </a:pPr>
            <a:r>
              <a:rPr b="1"/>
              <a:t>Google Benchmark stub</a:t>
            </a:r>
            <a:r>
              <a:rPr/>
              <a:t> (</a:t>
            </a:r>
            <a:r>
              <a:rPr>
                <a:latin typeface="Courier"/>
              </a:rPr>
              <a:t>cmake/googlebenchmark_stub.cmake</a:t>
            </a:r>
            <a:r>
              <a:rPr/>
              <a:t>, 9 lines):</a:t>
            </a:r>
          </a:p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add_library</a:t>
            </a:r>
            <a:r>
              <a:rPr>
                <a:latin typeface="Courier"/>
              </a:rPr>
              <a:t>(benchmark </a:t>
            </a:r>
            <a:r>
              <a:rPr>
                <a:solidFill>
                  <a:srgbClr val="007020"/>
                </a:solidFill>
                <a:latin typeface="Courier"/>
              </a:rPr>
              <a:t>INTERFACE</a:t>
            </a:r>
            <a:r>
              <a:rPr>
                <a:latin typeface="Courier"/>
              </a:rPr>
              <a:t>)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add_library</a:t>
            </a:r>
            <a:r>
              <a:rPr>
                <a:latin typeface="Courier"/>
              </a:rPr>
              <a:t>(benchmark_main </a:t>
            </a:r>
            <a:r>
              <a:rPr>
                <a:solidFill>
                  <a:srgbClr val="007020"/>
                </a:solidFill>
                <a:latin typeface="Courier"/>
              </a:rPr>
              <a:t>INTERFACE</a:t>
            </a:r>
            <a:r>
              <a:rPr>
                <a:latin typeface="Courier"/>
              </a:rPr>
              <a:t>)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add_library</a:t>
            </a:r>
            <a:r>
              <a:rPr>
                <a:latin typeface="Courier"/>
              </a:rPr>
              <a:t>(benchmark::benchmark </a:t>
            </a:r>
            <a:r>
              <a:rPr>
                <a:solidFill>
                  <a:srgbClr val="007020"/>
                </a:solidFill>
                <a:latin typeface="Courier"/>
              </a:rPr>
              <a:t>ALIAS</a:t>
            </a:r>
            <a:r>
              <a:rPr>
                <a:latin typeface="Courier"/>
              </a:rPr>
              <a:t> benchmark)</a:t>
            </a:r>
          </a:p>
          <a:p>
            <a:pPr lvl="0" marL="0" indent="0">
              <a:buNone/>
            </a:pPr>
            <a:r>
              <a:rPr/>
              <a:t>Headers needed (</a:t>
            </a:r>
            <a:r>
              <a:rPr>
                <a:latin typeface="Courier"/>
              </a:rPr>
              <a:t>benchmark::State</a:t>
            </a:r>
            <a:r>
              <a:rPr/>
              <a:t>), library NOT needed (</a:t>
            </a:r>
            <a:r>
              <a:rPr>
                <a:latin typeface="Courier"/>
              </a:rPr>
              <a:t>run_direct</a:t>
            </a:r>
            <a:r>
              <a:rPr/>
              <a:t> bypasses GB).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Slide 8: Timing &amp; GPU Hardware Interface</a:t>
            </a:r>
          </a:p>
          <a:p>
            <a:pPr lvl="0" marL="0" indent="0">
              <a:buNone/>
            </a:pPr>
            <a:r>
              <a:rPr b="1">
                <a:latin typeface="Courier"/>
              </a:rPr>
              <a:t>run_direct()</a:t>
            </a:r>
            <a:r>
              <a:rPr b="1"/>
              <a:t> in </a:t>
            </a:r>
            <a:r>
              <a:rPr b="1">
                <a:latin typeface="Courier"/>
              </a:rPr>
              <a:t>benchmark_runner.hpp</a:t>
            </a:r>
            <a:r>
              <a:rPr b="1"/>
              <a:t> (L1159–1189):</a:t>
            </a:r>
          </a:p>
          <a:p>
            <a:pPr lvl="0" indent="0">
              <a:buNone/>
            </a:pPr>
            <a:r>
              <a:rPr>
                <a:latin typeface="Courier"/>
              </a:rPr>
              <a:t>GPU_Clock timer;</a:t>
            </a:r>
            <a:br/>
            <a:r>
              <a:rPr>
                <a:latin typeface="Courier"/>
              </a:rPr>
              <a:t>timer.start();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(</a:t>
            </a:r>
            <a:r>
              <a:rPr>
                <a:solidFill>
                  <a:srgbClr val="902000"/>
                </a:solidFill>
                <a:latin typeface="Courier"/>
              </a:rPr>
              <a:t>int</a:t>
            </a:r>
            <a:r>
              <a:rPr>
                <a:latin typeface="Courier"/>
              </a:rPr>
              <a:t> i =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; i &lt; </a:t>
            </a:r>
            <a:r>
              <a:rPr>
                <a:solidFill>
                  <a:srgbClr val="40A070"/>
                </a:solidFill>
                <a:latin typeface="Courier"/>
              </a:rPr>
              <a:t>100</a:t>
            </a:r>
            <a:r>
              <a:rPr>
                <a:latin typeface="Courier"/>
              </a:rPr>
              <a:t>; ++i) </a:t>
            </a:r>
            <a:br/>
            <a:r>
              <a:rPr>
                <a:latin typeface="Courier"/>
              </a:rPr>
              <a:t>    gemm_op.run();</a:t>
            </a:r>
            <a:br/>
            <a:r>
              <a:rPr>
                <a:latin typeface="Courier"/>
              </a:rPr>
              <a:t>compat::wait();    </a:t>
            </a:r>
            <a:r>
              <a:rPr i="1">
                <a:solidFill>
                  <a:srgbClr val="60A0B0"/>
                </a:solidFill>
                <a:latin typeface="Courier"/>
              </a:rPr>
              <a:t>// SYCL queue synchronization</a:t>
            </a:r>
            <a:br/>
            <a:r>
              <a:rPr>
                <a:solidFill>
                  <a:srgbClr val="902000"/>
                </a:solidFill>
                <a:latin typeface="Courier"/>
              </a:rPr>
              <a:t>double</a:t>
            </a:r>
            <a:r>
              <a:rPr>
                <a:latin typeface="Courier"/>
              </a:rPr>
              <a:t> avg_sec = timer.seconds() / </a:t>
            </a:r>
            <a:r>
              <a:rPr>
                <a:solidFill>
                  <a:srgbClr val="40A070"/>
                </a:solidFill>
                <a:latin typeface="Courier"/>
              </a:rPr>
              <a:t>100.0</a:t>
            </a:r>
            <a:r>
              <a:rPr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(</a:t>
            </a:r>
            <a:r>
              <a:rPr>
                <a:solidFill>
                  <a:srgbClr val="40A070"/>
                </a:solidFill>
                <a:latin typeface="Courier"/>
              </a:rPr>
              <a:t>2.0</a:t>
            </a:r>
            <a:r>
              <a:rPr>
                <a:latin typeface="Courier"/>
              </a:rPr>
              <a:t> * m * n * k * </a:t>
            </a:r>
            <a:r>
              <a:rPr>
                <a:solidFill>
                  <a:srgbClr val="40A070"/>
                </a:solidFill>
                <a:latin typeface="Courier"/>
              </a:rPr>
              <a:t>1e-12</a:t>
            </a:r>
            <a:r>
              <a:rPr>
                <a:latin typeface="Courier"/>
              </a:rPr>
              <a:t>) / avg_sec;  </a:t>
            </a:r>
            <a:r>
              <a:rPr i="1">
                <a:solidFill>
                  <a:srgbClr val="60A0B0"/>
                </a:solidFill>
                <a:latin typeface="Courier"/>
              </a:rPr>
              <a:t>// TFLOPS</a:t>
            </a:r>
          </a:p>
          <a:p>
            <a:pPr lvl="0" marL="0" indent="0">
              <a:buNone/>
            </a:pPr>
            <a:r>
              <a:rPr b="1"/>
              <a:t>Key design decisions:</a:t>
            </a:r>
            <a:r>
              <a:rPr/>
              <a:t> 1. </a:t>
            </a:r>
            <a:r>
              <a:rPr b="1"/>
              <a:t>Warmup</a:t>
            </a:r>
            <a:r>
              <a:rPr/>
              <a:t>: 1 explicit run + 100 iterations before timing (L1176–1178) 2. </a:t>
            </a:r>
            <a:r>
              <a:rPr b="1"/>
              <a:t>Batch submit</a:t>
            </a:r>
            <a:r>
              <a:rPr/>
              <a:t>: All 100 runs submitted before </a:t>
            </a:r>
            <a:r>
              <a:rPr>
                <a:latin typeface="Courier"/>
              </a:rPr>
              <a:t>compat::wait()</a:t>
            </a:r>
            <a:r>
              <a:rPr/>
              <a:t> (L1181–1182) 3. </a:t>
            </a:r>
            <a:r>
              <a:rPr b="1"/>
              <a:t>No GB overhead</a:t>
            </a:r>
            <a:r>
              <a:rPr/>
              <a:t>: Bypasses Google Benchmark’s </a:t>
            </a:r>
            <a:r>
              <a:rPr>
                <a:latin typeface="Courier"/>
              </a:rPr>
              <a:t>State</a:t>
            </a:r>
            <a:r>
              <a:rPr/>
              <a:t> iteration loop 4. </a:t>
            </a:r>
            <a:r>
              <a:rPr b="1"/>
              <a:t>Scheduler splits</a:t>
            </a:r>
            <a:r>
              <a:rPr/>
              <a:t>: </a:t>
            </a:r>
            <a:r>
              <a:rPr>
                <a:latin typeface="Courier"/>
              </a:rPr>
              <a:t>set_scheduler_splits()</a:t>
            </a:r>
            <a:r>
              <a:rPr/>
              <a:t> via SFINAE </a:t>
            </a:r>
            <a:r>
              <a:rPr>
                <a:latin typeface="Courier"/>
              </a:rPr>
              <a:t>HasSchedulerSplits&lt;T&gt;</a:t>
            </a:r>
            <a:r>
              <a:rPr/>
              <a:t> (L126–134)</a:t>
            </a:r>
          </a:p>
          <a:p>
            <a:pPr lvl="0" marL="0" indent="0">
              <a:buNone/>
            </a:pPr>
            <a:r>
              <a:rPr b="1"/>
              <a:t>GPU affinity:</a:t>
            </a:r>
          </a:p>
          <a:p>
            <a:pPr lvl="0" indent="0">
              <a:buNone/>
            </a:pPr>
            <a:r>
              <a:rPr>
                <a:solidFill>
                  <a:srgbClr val="19177C"/>
                </a:solidFill>
                <a:latin typeface="Courier"/>
              </a:rPr>
              <a:t>ZE_AFFINITY_MASK=$gpu</a:t>
            </a:r>
            <a:r>
              <a:rPr>
                <a:latin typeface="Courier"/>
              </a:rPr>
              <a:t>    # 0,1,2,3 → round-robin across 4 GPUs</a:t>
            </a:r>
          </a:p>
          <a:p>
            <a:pPr lvl="0" marL="0" indent="0">
              <a:buNone/>
            </a:pPr>
            <a:r>
              <a:rPr b="1"/>
              <a:t>Hardware info collected:</a:t>
            </a:r>
          </a:p>
          <a:p>
            <a:pPr lvl="0" indent="0">
              <a:buNone/>
            </a:pPr>
            <a:r>
              <a:rPr>
                <a:latin typeface="Courier"/>
              </a:rPr>
              <a:t>hw.sm_count = KernelHardwareInfo::query_device_multiprocessor_count(hw.device_id);</a:t>
            </a:r>
            <a:br/>
            <a:r>
              <a:rPr>
                <a:latin typeface="Courier"/>
              </a:rPr>
              <a:t>arguments.hw_info = hw_info;   </a:t>
            </a:r>
            <a:r>
              <a:rPr i="1">
                <a:solidFill>
                  <a:srgbClr val="60A0B0"/>
                </a:solidFill>
                <a:latin typeface="Courier"/>
              </a:rPr>
              <a:t>// passed to kernel for tile scheduling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Slide 9: Major Bugs and Fixes (Part 1 — Compile &amp; Link)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8300"/>
                <a:gridCol w="1638300"/>
                <a:gridCol w="1638300"/>
                <a:gridCol w="1638300"/>
                <a:gridCol w="1638300"/>
              </a:tblGrid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Bug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Root</a:t>
                      </a:r>
                      <a:r>
                        <a:rPr/>
                        <a:t> </a:t>
                      </a:r>
                      <a:r>
                        <a:rPr/>
                        <a:t>Cause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Fix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Commit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>
                          <a:latin typeface="Courier"/>
                        </a:rPr>
                        <a:t>.DELETE_ON_ERROR</a:t>
                      </a:r>
                      <a:r>
                        <a:rPr/>
                        <a:t> </a:t>
                      </a:r>
                      <a:r>
                        <a:rPr/>
                        <a:t>deletes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.o</a:t>
                      </a:r>
                      <a:r>
                        <a:rPr/>
                        <a:t> </a:t>
                      </a:r>
                      <a:r>
                        <a:rPr/>
                        <a:t>on</a:t>
                      </a:r>
                      <a:r>
                        <a:rPr/>
                        <a:t> </a:t>
                      </a:r>
                      <a:r>
                        <a:rPr/>
                        <a:t>every</a:t>
                      </a:r>
                      <a:r>
                        <a:rPr/>
                        <a:t> </a:t>
                      </a:r>
                      <a:r>
                        <a:rPr/>
                        <a:t>batch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cmake</a:t>
                      </a:r>
                      <a:r>
                        <a:rPr/>
                        <a:t> </a:t>
                      </a:r>
                      <a:r>
                        <a:rPr/>
                        <a:t>default</a:t>
                      </a:r>
                      <a:r>
                        <a:rPr/>
                        <a:t> </a:t>
                      </a:r>
                      <a:r>
                        <a:rPr/>
                        <a:t>behavior:</a:t>
                      </a:r>
                      <a:r>
                        <a:rPr/>
                        <a:t> </a:t>
                      </a:r>
                      <a:r>
                        <a:rPr/>
                        <a:t>if</a:t>
                      </a:r>
                      <a:r>
                        <a:rPr/>
                        <a:t> </a:t>
                      </a:r>
                      <a:r>
                        <a:rPr/>
                        <a:t>link</a:t>
                      </a:r>
                      <a:r>
                        <a:rPr/>
                        <a:t> </a:t>
                      </a:r>
                      <a:r>
                        <a:rPr/>
                        <a:t>fails</a:t>
                      </a:r>
                      <a:r>
                        <a:rPr/>
                        <a:t> </a:t>
                      </a:r>
                      <a:r>
                        <a:rPr/>
                        <a:t>(GB</a:t>
                      </a:r>
                      <a:r>
                        <a:rPr/>
                        <a:t> </a:t>
                      </a:r>
                      <a:r>
                        <a:rPr/>
                        <a:t>stub),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.o</a:t>
                      </a:r>
                      <a:r>
                        <a:rPr/>
                        <a:t> </a:t>
                      </a:r>
                      <a:r>
                        <a:rPr/>
                        <a:t>is</a:t>
                      </a:r>
                      <a:r>
                        <a:rPr/>
                        <a:t> </a:t>
                      </a:r>
                      <a:r>
                        <a:rPr/>
                        <a:t>deleted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>
                          <a:latin typeface="Courier"/>
                        </a:rPr>
                        <a:t>sed -i '/.DELETE_ON_ERROR/d' build.make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>
                          <a:latin typeface="Courier"/>
                        </a:rPr>
                        <a:t>510b9815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Perf</a:t>
                      </a:r>
                      <a:r>
                        <a:rPr/>
                        <a:t> </a:t>
                      </a:r>
                      <a:r>
                        <a:rPr/>
                        <a:t>flags</a:t>
                      </a:r>
                      <a:r>
                        <a:rPr/>
                        <a:t> </a:t>
                      </a:r>
                      <a:r>
                        <a:rPr/>
                        <a:t>NOT</a:t>
                      </a:r>
                      <a:r>
                        <a:rPr/>
                        <a:t> </a:t>
                      </a:r>
                      <a:r>
                        <a:rPr/>
                        <a:t>baked</a:t>
                      </a:r>
                      <a:r>
                        <a:rPr/>
                        <a:t> </a:t>
                      </a:r>
                      <a:r>
                        <a:rPr/>
                        <a:t>→</a:t>
                      </a:r>
                      <a:r>
                        <a:rPr/>
                        <a:t> </a:t>
                      </a:r>
                      <a:r>
                        <a:rPr/>
                        <a:t>4.4</a:t>
                      </a:r>
                      <a:r>
                        <a:rPr/>
                        <a:t> </a:t>
                      </a:r>
                      <a:r>
                        <a:rPr/>
                        <a:t>TFLOPS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>
                          <a:latin typeface="Courier"/>
                        </a:rPr>
                        <a:t>SYCL_PROGRAM_COMPILE_OPTIONS</a:t>
                      </a:r>
                      <a:r>
                        <a:rPr/>
                        <a:t> </a:t>
                      </a:r>
                      <a:r>
                        <a:rPr/>
                        <a:t>only</a:t>
                      </a:r>
                      <a:r>
                        <a:rPr/>
                        <a:t> </a:t>
                      </a:r>
                      <a:r>
                        <a:rPr/>
                        <a:t>at</a:t>
                      </a:r>
                      <a:r>
                        <a:rPr/>
                        <a:t> </a:t>
                      </a:r>
                      <a:r>
                        <a:rPr/>
                        <a:t>runtime,</a:t>
                      </a:r>
                      <a:r>
                        <a:rPr/>
                        <a:t> </a:t>
                      </a:r>
                      <a:r>
                        <a:rPr/>
                        <a:t>IGC</a:t>
                      </a:r>
                      <a:r>
                        <a:rPr/>
                        <a:t> </a:t>
                      </a:r>
                      <a:r>
                        <a:rPr/>
                        <a:t>sees</a:t>
                      </a:r>
                      <a:r>
                        <a:rPr/>
                        <a:t> </a:t>
                      </a:r>
                      <a:r>
                        <a:rPr/>
                        <a:t>it</a:t>
                      </a:r>
                      <a:r>
                        <a:rPr/>
                        <a:t> </a:t>
                      </a:r>
                      <a:r>
                        <a:rPr/>
                        <a:t>too</a:t>
                      </a:r>
                      <a:r>
                        <a:rPr/>
                        <a:t> </a:t>
                      </a:r>
                      <a:r>
                        <a:rPr/>
                        <a:t>late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Export</a:t>
                      </a:r>
                      <a:r>
                        <a:rPr/>
                        <a:t> </a:t>
                      </a:r>
                      <a:r>
                        <a:rPr/>
                        <a:t>before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make</a:t>
                      </a:r>
                      <a:r>
                        <a:rPr/>
                        <a:t>,</a:t>
                      </a:r>
                      <a:r>
                        <a:rPr/>
                        <a:t> </a:t>
                      </a:r>
                      <a:r>
                        <a:rPr/>
                        <a:t>verified</a:t>
                      </a:r>
                      <a:r>
                        <a:rPr/>
                        <a:t> </a:t>
                      </a:r>
                      <a:r>
                        <a:rPr/>
                        <a:t>“</a:t>
                      </a:r>
                      <a:r>
                        <a:rPr/>
                        <a:t>Compilation</a:t>
                      </a:r>
                      <a:r>
                        <a:rPr/>
                        <a:t> </a:t>
                      </a:r>
                      <a:r>
                        <a:rPr/>
                        <a:t>from</a:t>
                      </a:r>
                      <a:r>
                        <a:rPr/>
                        <a:t> </a:t>
                      </a:r>
                      <a:r>
                        <a:rPr/>
                        <a:t>IR</a:t>
                      </a:r>
                      <a:r>
                        <a:rPr/>
                        <a:t>”</a:t>
                      </a:r>
                      <a:r>
                        <a:rPr/>
                        <a:t> </a:t>
                      </a:r>
                      <a:r>
                        <a:rPr/>
                        <a:t>absent</a:t>
                      </a:r>
                      <a:r>
                        <a:rPr/>
                        <a:t> </a:t>
                      </a:r>
                      <a:r>
                        <a:rPr/>
                        <a:t>in</a:t>
                      </a:r>
                      <a:r>
                        <a:rPr/>
                        <a:t> </a:t>
                      </a:r>
                      <a:r>
                        <a:rPr/>
                        <a:t>log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>
                          <a:latin typeface="Courier"/>
                        </a:rPr>
                        <a:t>fa3585a5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>
                          <a:latin typeface="Courier"/>
                        </a:rPr>
                        <a:t>run_direct</a:t>
                      </a:r>
                      <a:r>
                        <a:rPr/>
                        <a:t> </a:t>
                      </a:r>
                      <a:r>
                        <a:rPr/>
                        <a:t>ignored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split_k_slices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>
                          <a:latin typeface="Courier"/>
                        </a:rPr>
                        <a:t>set_scheduler_splits()</a:t>
                      </a:r>
                      <a:r>
                        <a:rPr/>
                        <a:t> </a:t>
                      </a:r>
                      <a:r>
                        <a:rPr/>
                        <a:t>was</a:t>
                      </a:r>
                      <a:r>
                        <a:rPr/>
                        <a:t> </a:t>
                      </a:r>
                      <a:r>
                        <a:rPr/>
                        <a:t>only</a:t>
                      </a:r>
                      <a:r>
                        <a:rPr/>
                        <a:t> </a:t>
                      </a:r>
                      <a:r>
                        <a:rPr/>
                        <a:t>called</a:t>
                      </a:r>
                      <a:r>
                        <a:rPr/>
                        <a:t> </a:t>
                      </a:r>
                      <a:r>
                        <a:rPr/>
                        <a:t>in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run()</a:t>
                      </a:r>
                      <a:r>
                        <a:rPr/>
                        <a:t> </a:t>
                      </a:r>
                      <a:r>
                        <a:rPr/>
                        <a:t>path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Added</a:t>
                      </a:r>
                      <a:r>
                        <a:rPr/>
                        <a:t> </a:t>
                      </a:r>
                      <a:r>
                        <a:rPr/>
                        <a:t>call: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set_scheduler_splits(arguments, options.split_k_slices)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>
                          <a:latin typeface="Courier"/>
                        </a:rPr>
                        <a:t>16ba4c72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SplitK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defaultArguments()</a:t>
                      </a:r>
                      <a:r>
                        <a:rPr/>
                        <a:t> </a:t>
                      </a:r>
                      <a:r>
                        <a:rPr/>
                        <a:t>used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splits=2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B70</a:t>
                      </a:r>
                      <a:r>
                        <a:rPr/>
                        <a:t> </a:t>
                      </a:r>
                      <a:r>
                        <a:rPr/>
                        <a:t>hardware</a:t>
                      </a:r>
                      <a:r>
                        <a:rPr/>
                        <a:t> </a:t>
                      </a:r>
                      <a:r>
                        <a:rPr/>
                        <a:t>hangs</a:t>
                      </a:r>
                      <a:r>
                        <a:rPr/>
                        <a:t> </a:t>
                      </a:r>
                      <a:r>
                        <a:rPr/>
                        <a:t>with</a:t>
                      </a:r>
                      <a:r>
                        <a:rPr/>
                        <a:t> </a:t>
                      </a:r>
                      <a:r>
                        <a:rPr/>
                        <a:t>splits=2</a:t>
                      </a:r>
                      <a:r>
                        <a:rPr/>
                        <a:t> </a:t>
                      </a:r>
                      <a:r>
                        <a:rPr/>
                        <a:t>(kernel</a:t>
                      </a:r>
                      <a:r>
                        <a:rPr/>
                        <a:t> </a:t>
                      </a:r>
                      <a:r>
                        <a:rPr/>
                        <a:t>never</a:t>
                      </a:r>
                      <a:r>
                        <a:rPr/>
                        <a:t> </a:t>
                      </a:r>
                      <a:r>
                        <a:rPr/>
                        <a:t>returns)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Changed</a:t>
                      </a:r>
                      <a:r>
                        <a:rPr/>
                        <a:t> </a:t>
                      </a:r>
                      <a:r>
                        <a:rPr/>
                        <a:t>to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{1, StreamKMode::SplitK}</a:t>
                      </a:r>
                      <a:r>
                        <a:rPr/>
                        <a:t> </a:t>
                      </a:r>
                      <a:r>
                        <a:rPr/>
                        <a:t>in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gemm_configuration_sycl.hpp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>
                          <a:latin typeface="Courier"/>
                        </a:rPr>
                        <a:t>7fc16df3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Remote</a:t>
                      </a:r>
                      <a:r>
                        <a:rPr/>
                        <a:t> </a:t>
                      </a:r>
                      <a:r>
                        <a:rPr/>
                        <a:t>git</a:t>
                      </a:r>
                      <a:r>
                        <a:rPr/>
                        <a:t> </a:t>
                      </a:r>
                      <a:r>
                        <a:rPr/>
                        <a:t>sync: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git pull</a:t>
                      </a:r>
                      <a:r>
                        <a:rPr/>
                        <a:t> </a:t>
                      </a:r>
                      <a:r>
                        <a:rPr/>
                        <a:t>fails</a:t>
                      </a:r>
                      <a:r>
                        <a:rPr/>
                        <a:t> </a:t>
                      </a:r>
                      <a:r>
                        <a:rPr/>
                        <a:t>with</a:t>
                      </a:r>
                      <a:r>
                        <a:rPr/>
                        <a:t> </a:t>
                      </a:r>
                      <a:r>
                        <a:rPr/>
                        <a:t>unstaged</a:t>
                      </a:r>
                      <a:r>
                        <a:rPr/>
                        <a:t> </a:t>
                      </a:r>
                      <a:r>
                        <a:rPr/>
                        <a:t>files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Screening</a:t>
                      </a:r>
                      <a:r>
                        <a:rPr/>
                        <a:t> </a:t>
                      </a:r>
                      <a:r>
                        <a:rPr/>
                        <a:t>modifies</a:t>
                      </a:r>
                      <a:r>
                        <a:rPr/>
                        <a:t> </a:t>
                      </a:r>
                      <a:r>
                        <a:rPr/>
                        <a:t>source</a:t>
                      </a:r>
                      <a:r>
                        <a:rPr/>
                        <a:t> </a:t>
                      </a:r>
                      <a:r>
                        <a:rPr/>
                        <a:t>→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git pull</a:t>
                      </a:r>
                      <a:r>
                        <a:rPr/>
                        <a:t> </a:t>
                      </a:r>
                      <a:r>
                        <a:rPr/>
                        <a:t>aborts</a:t>
                      </a:r>
                      <a:r>
                        <a:rPr/>
                        <a:t> </a:t>
                      </a:r>
                      <a:r>
                        <a:rPr/>
                        <a:t>silently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>
                          <a:latin typeface="Courier"/>
                        </a:rPr>
                        <a:t>git fetch &amp;&amp; git reset --hard origin/main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SOP</a:t>
                      </a:r>
                      <a:r>
                        <a:rPr/>
                        <a:t> </a:t>
                      </a:r>
                      <a:r>
                        <a:rPr/>
                        <a:t>documented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Slide 10: Major Bugs and Fixes (Part 2 — Kernel Generation)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8300"/>
                <a:gridCol w="1638300"/>
                <a:gridCol w="1638300"/>
                <a:gridCol w="1638300"/>
                <a:gridCol w="1638300"/>
              </a:tblGrid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Bug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Root</a:t>
                      </a:r>
                      <a:r>
                        <a:rPr/>
                        <a:t> </a:t>
                      </a:r>
                      <a:r>
                        <a:rPr/>
                        <a:t>Cause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Fix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Commit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>
                          <a:latin typeface="Courier"/>
                        </a:rPr>
                        <a:t>gen_mini</a:t>
                      </a:r>
                      <a:r>
                        <a:rPr/>
                        <a:t> </a:t>
                      </a:r>
                      <a:r>
                        <a:rPr/>
                        <a:t>redefinition:</a:t>
                      </a:r>
                      <a:r>
                        <a:rPr/>
                        <a:t> </a:t>
                      </a:r>
                      <a:r>
                        <a:rPr/>
                        <a:t>DataParallel_512x128x32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>
                          <a:latin typeface="Courier"/>
                        </a:rPr>
                        <a:t>covered()</a:t>
                      </a:r>
                      <a:r>
                        <a:rPr/>
                        <a:t> </a:t>
                      </a:r>
                      <a:r>
                        <a:rPr/>
                        <a:t>checked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using</a:t>
                      </a:r>
                      <a:r>
                        <a:rPr/>
                        <a:t> </a:t>
                      </a:r>
                      <a:r>
                        <a:rPr/>
                        <a:t>declarations</a:t>
                      </a:r>
                      <a:r>
                        <a:rPr/>
                        <a:t> </a:t>
                      </a:r>
                      <a:r>
                        <a:rPr/>
                        <a:t>but</a:t>
                      </a:r>
                      <a:r>
                        <a:rPr/>
                        <a:t> </a:t>
                      </a:r>
                      <a:r>
                        <a:rPr/>
                        <a:t>tile</a:t>
                      </a:r>
                      <a:r>
                        <a:rPr/>
                        <a:t> </a:t>
                      </a:r>
                      <a:r>
                        <a:rPr/>
                        <a:t>(512,128,32)</a:t>
                      </a:r>
                      <a:r>
                        <a:rPr/>
                        <a:t> </a:t>
                      </a:r>
                      <a:r>
                        <a:rPr/>
                        <a:t>missing</a:t>
                      </a:r>
                      <a:r>
                        <a:rPr/>
                        <a:t> </a:t>
                      </a:r>
                      <a:r>
                        <a:rPr/>
                        <a:t>from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EXPANDED_STREAMK_TILES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Added</a:t>
                      </a:r>
                      <a:r>
                        <a:rPr/>
                        <a:t> </a:t>
                      </a:r>
                      <a:r>
                        <a:rPr/>
                        <a:t>K=32</a:t>
                      </a:r>
                      <a:r>
                        <a:rPr/>
                        <a:t> </a:t>
                      </a:r>
                      <a:r>
                        <a:rPr/>
                        <a:t>variants</a:t>
                      </a:r>
                      <a:r>
                        <a:rPr/>
                        <a:t> </a:t>
                      </a:r>
                      <a:r>
                        <a:rPr/>
                        <a:t>to</a:t>
                      </a:r>
                      <a:r>
                        <a:rPr/>
                        <a:t> </a:t>
                      </a:r>
                      <a:r>
                        <a:rPr/>
                        <a:t>tile</a:t>
                      </a:r>
                      <a:r>
                        <a:rPr/>
                        <a:t> </a:t>
                      </a:r>
                      <a:r>
                        <a:rPr/>
                        <a:t>set:</a:t>
                      </a:r>
                      <a:r>
                        <a:rPr/>
                        <a:t> </a:t>
                      </a:r>
                      <a:r>
                        <a:rPr/>
                        <a:t>64×128×32,</a:t>
                      </a:r>
                      <a:r>
                        <a:rPr/>
                        <a:t> </a:t>
                      </a:r>
                      <a:r>
                        <a:rPr/>
                        <a:t>128×128×32,</a:t>
                      </a:r>
                      <a:r>
                        <a:rPr/>
                        <a:t> </a:t>
                      </a:r>
                      <a:r>
                        <a:rPr/>
                        <a:t>256×128×32,</a:t>
                      </a:r>
                      <a:r>
                        <a:rPr/>
                        <a:t> </a:t>
                      </a:r>
                      <a:r>
                        <a:rPr/>
                        <a:t>512×128×32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>
                          <a:latin typeface="Courier"/>
                        </a:rPr>
                        <a:t>fd3baad2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>
                          <a:latin typeface="Courier"/>
                        </a:rPr>
                        <a:t>gen_mini</a:t>
                      </a:r>
                      <a:r>
                        <a:rPr/>
                        <a:t> </a:t>
                      </a:r>
                      <a:r>
                        <a:rPr/>
                        <a:t>redefinition:</a:t>
                      </a:r>
                      <a:r>
                        <a:rPr/>
                        <a:t> </a:t>
                      </a:r>
                      <a:r>
                        <a:rPr/>
                        <a:t>Gemm_128x128x32_SG2x4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Preamble</a:t>
                      </a:r>
                      <a:r>
                        <a:rPr/>
                        <a:t> </a:t>
                      </a:r>
                      <a:r>
                        <a:rPr/>
                        <a:t>contained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BMG_DECLARE_GEMM_TILE_SG</a:t>
                      </a:r>
                      <a:r>
                        <a:rPr/>
                        <a:t> </a:t>
                      </a:r>
                      <a:r>
                        <a:rPr/>
                        <a:t>calls</a:t>
                      </a:r>
                      <a:r>
                        <a:rPr/>
                        <a:t> </a:t>
                      </a:r>
                      <a:r>
                        <a:rPr/>
                        <a:t>via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.def</a:t>
                      </a:r>
                      <a:r>
                        <a:rPr/>
                        <a:t> </a:t>
                      </a:r>
                      <a:r>
                        <a:rPr/>
                        <a:t>file</a:t>
                      </a:r>
                      <a:r>
                        <a:rPr/>
                        <a:t> </a:t>
                      </a:r>
                      <a:r>
                        <a:rPr/>
                        <a:t>→</a:t>
                      </a:r>
                      <a:r>
                        <a:rPr/>
                        <a:t> </a:t>
                      </a:r>
                      <a:r>
                        <a:rPr/>
                        <a:t>300+</a:t>
                      </a:r>
                      <a:r>
                        <a:rPr/>
                        <a:t> </a:t>
                      </a:r>
                      <a:r>
                        <a:rPr/>
                        <a:t>types</a:t>
                      </a:r>
                      <a:r>
                        <a:rPr/>
                        <a:t> </a:t>
                      </a:r>
                      <a:r>
                        <a:rPr/>
                        <a:t>generated</a:t>
                      </a:r>
                      <a:r>
                        <a:rPr/>
                        <a:t> </a:t>
                      </a:r>
                      <a:r>
                        <a:rPr/>
                        <a:t>BEFORE</a:t>
                      </a:r>
                      <a:r>
                        <a:rPr/>
                        <a:t> </a:t>
                      </a:r>
                      <a:r>
                        <a:rPr/>
                        <a:t>batch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Strip</a:t>
                      </a:r>
                      <a:r>
                        <a:rPr/>
                        <a:t> </a:t>
                      </a:r>
                      <a:r>
                        <a:rPr/>
                        <a:t>ALL</a:t>
                      </a:r>
                      <a:r>
                        <a:rPr/>
                        <a:t> </a:t>
                      </a:r>
                      <a:r>
                        <a:rPr/>
                        <a:t>BMG_DECLARE_</a:t>
                      </a:r>
                      <a:r>
                        <a:rPr i="1"/>
                        <a:t>/BMG_REGISTER_</a:t>
                      </a:r>
                      <a:r>
                        <a:rPr/>
                        <a:t>/BMG_SOURCE_*</a:t>
                      </a:r>
                      <a:r>
                        <a:rPr/>
                        <a:t> </a:t>
                      </a:r>
                      <a:r>
                        <a:rPr/>
                        <a:t>calls</a:t>
                      </a:r>
                      <a:r>
                        <a:rPr/>
                        <a:t> </a:t>
                      </a:r>
                      <a:r>
                        <a:rPr/>
                        <a:t>+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.def</a:t>
                      </a:r>
                      <a:r>
                        <a:rPr/>
                        <a:t> </a:t>
                      </a:r>
                      <a:r>
                        <a:rPr/>
                        <a:t>includes</a:t>
                      </a:r>
                      <a:r>
                        <a:rPr/>
                        <a:t> </a:t>
                      </a:r>
                      <a:r>
                        <a:rPr/>
                        <a:t>from</a:t>
                      </a:r>
                      <a:r>
                        <a:rPr/>
                        <a:t> </a:t>
                      </a:r>
                      <a:r>
                        <a:rPr/>
                        <a:t>preamble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>
                          <a:latin typeface="Courier"/>
                        </a:rPr>
                        <a:t>b73b4a45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>
                          <a:latin typeface="Courier"/>
                        </a:rPr>
                        <a:t>gen_mini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KeyError: ST</a:t>
                      </a:r>
                      <a:r>
                        <a:rPr/>
                        <a:t> </a:t>
                      </a:r>
                      <a:r>
                        <a:rPr/>
                        <a:t>for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gs</a:t>
                      </a:r>
                      <a:r>
                        <a:rPr/>
                        <a:t> </a:t>
                      </a:r>
                      <a:r>
                        <a:rPr/>
                        <a:t>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>
                          <a:latin typeface="Courier"/>
                        </a:rPr>
                        <a:t>gs</a:t>
                      </a:r>
                      <a:r>
                        <a:rPr/>
                        <a:t> </a:t>
                      </a:r>
                      <a:r>
                        <a:rPr/>
                        <a:t>block</a:t>
                      </a:r>
                      <a:r>
                        <a:rPr/>
                        <a:t> </a:t>
                      </a:r>
                      <a:r>
                        <a:rPr/>
                        <a:t>accidentally</a:t>
                      </a:r>
                      <a:r>
                        <a:rPr/>
                        <a:t> </a:t>
                      </a:r>
                      <a:r>
                        <a:rPr/>
                        <a:t>included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BMG_DECLARE_EXHAUSTIVE_GEMM_TILE_STAGE</a:t>
                      </a:r>
                      <a:r>
                        <a:rPr/>
                        <a:t> </a:t>
                      </a:r>
                      <a:r>
                        <a:rPr/>
                        <a:t>(which</a:t>
                      </a:r>
                      <a:r>
                        <a:rPr/>
                        <a:t> </a:t>
                      </a:r>
                      <a:r>
                        <a:rPr/>
                        <a:t>needs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ST</a:t>
                      </a:r>
                      <a:r>
                        <a:rPr/>
                        <a:t> </a:t>
                      </a:r>
                      <a:r>
                        <a:rPr/>
                        <a:t>param</a:t>
                      </a:r>
                      <a:r>
                        <a:rPr/>
                        <a:t> </a:t>
                      </a:r>
                      <a:r>
                        <a:rPr/>
                        <a:t>not</a:t>
                      </a:r>
                      <a:r>
                        <a:rPr/>
                        <a:t> </a:t>
                      </a:r>
                      <a:r>
                        <a:rPr/>
                        <a:t>present</a:t>
                      </a:r>
                      <a:r>
                        <a:rPr/>
                        <a:t> </a:t>
                      </a:r>
                      <a:r>
                        <a:rPr/>
                        <a:t>in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gs</a:t>
                      </a:r>
                      <a:r>
                        <a:rPr/>
                        <a:t>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Removed</a:t>
                      </a:r>
                      <a:r>
                        <a:rPr/>
                        <a:t> </a:t>
                      </a:r>
                      <a:r>
                        <a:rPr/>
                        <a:t>spurious</a:t>
                      </a:r>
                      <a:r>
                        <a:rPr/>
                        <a:t> </a:t>
                      </a:r>
                      <a:r>
                        <a:rPr/>
                        <a:t>line;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gs</a:t>
                      </a:r>
                      <a:r>
                        <a:rPr/>
                        <a:t> </a:t>
                      </a:r>
                      <a:r>
                        <a:rPr/>
                        <a:t>only</a:t>
                      </a:r>
                      <a:r>
                        <a:rPr/>
                        <a:t> </a:t>
                      </a:r>
                      <a:r>
                        <a:rPr/>
                        <a:t>uses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BMG_DECLARE_GEMM_TILE_SG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>
                          <a:latin typeface="Courier"/>
                        </a:rPr>
                        <a:t>e88751cc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SG8×8</a:t>
                      </a:r>
                      <a:r>
                        <a:rPr/>
                        <a:t> </a:t>
                      </a:r>
                      <a:r>
                        <a:rPr/>
                        <a:t>kernels</a:t>
                      </a:r>
                      <a:r>
                        <a:rPr/>
                        <a:t> </a:t>
                      </a:r>
                      <a:r>
                        <a:rPr/>
                        <a:t>generated</a:t>
                      </a:r>
                      <a:r>
                        <a:rPr/>
                        <a:t> </a:t>
                      </a:r>
                      <a:r>
                        <a:rPr/>
                        <a:t>but</a:t>
                      </a:r>
                      <a:r>
                        <a:rPr/>
                        <a:t> </a:t>
                      </a:r>
                      <a:r>
                        <a:rPr/>
                        <a:t>invalid</a:t>
                      </a:r>
                      <a:r>
                        <a:rPr/>
                        <a:t> </a:t>
                      </a:r>
                      <a:r>
                        <a:rPr/>
                        <a:t>on</a:t>
                      </a:r>
                      <a:r>
                        <a:rPr/>
                        <a:t> </a:t>
                      </a:r>
                      <a:r>
                        <a:rPr/>
                        <a:t>B70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>
                          <a:latin typeface="Courier"/>
                        </a:rPr>
                        <a:t>valid_subgroup_sizes</a:t>
                      </a:r>
                      <a:r>
                        <a:rPr/>
                        <a:t> </a:t>
                      </a:r>
                      <a:r>
                        <a:rPr/>
                        <a:t>was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[16, 32, 64]</a:t>
                      </a:r>
                      <a:r>
                        <a:rPr/>
                        <a:t> </a:t>
                      </a:r>
                      <a:r>
                        <a:rPr/>
                        <a:t>→</a:t>
                      </a:r>
                      <a:r>
                        <a:rPr/>
                        <a:t> </a:t>
                      </a:r>
                      <a:r>
                        <a:rPr/>
                        <a:t>allowed</a:t>
                      </a:r>
                      <a:r>
                        <a:rPr/>
                        <a:t> </a:t>
                      </a:r>
                      <a:r>
                        <a:rPr/>
                        <a:t>sg</a:t>
                      </a:r>
                      <a:r>
                        <a:rPr/>
                        <a:t> </a:t>
                      </a:r>
                      <a:r>
                        <a:rPr/>
                        <a:t>product</a:t>
                      </a:r>
                      <a:r>
                        <a:rPr/>
                        <a:t> </a:t>
                      </a:r>
                      <a:r>
                        <a:rPr/>
                        <a:t>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Changed</a:t>
                      </a:r>
                      <a:r>
                        <a:rPr/>
                        <a:t> </a:t>
                      </a:r>
                      <a:r>
                        <a:rPr/>
                        <a:t>to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[16, 32]</a:t>
                      </a:r>
                      <a:r>
                        <a:rPr/>
                        <a:t> </a:t>
                      </a:r>
                      <a:r>
                        <a:rPr/>
                        <a:t>(B70</a:t>
                      </a:r>
                      <a:r>
                        <a:rPr/>
                        <a:t> </a:t>
                      </a:r>
                      <a:r>
                        <a:rPr/>
                        <a:t>HW</a:t>
                      </a:r>
                      <a:r>
                        <a:rPr/>
                        <a:t> </a:t>
                      </a:r>
                      <a:r>
                        <a:rPr/>
                        <a:t>max</a:t>
                      </a:r>
                      <a:r>
                        <a:rPr/>
                        <a:t> </a:t>
                      </a:r>
                      <a:r>
                        <a:rPr/>
                        <a:t>subgroup</a:t>
                      </a:r>
                      <a:r>
                        <a:rPr/>
                        <a:t> </a:t>
                      </a:r>
                      <a:r>
                        <a:rPr/>
                        <a:t>=</a:t>
                      </a:r>
                      <a:r>
                        <a:rPr/>
                        <a:t> </a:t>
                      </a:r>
                      <a:r>
                        <a:rPr/>
                        <a:t>32)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>
                          <a:latin typeface="Courier"/>
                        </a:rPr>
                        <a:t>f98ed755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Performance</a:t>
                      </a:r>
                      <a:r>
                        <a:rPr/>
                        <a:t> </a:t>
                      </a:r>
                      <a:r>
                        <a:rPr/>
                        <a:t>regression:</a:t>
                      </a:r>
                      <a:r>
                        <a:rPr/>
                        <a:t> </a:t>
                      </a:r>
                      <a:r>
                        <a:rPr/>
                        <a:t>148→155</a:t>
                      </a:r>
                      <a:r>
                        <a:rPr/>
                        <a:t> </a:t>
                      </a:r>
                      <a:r>
                        <a:rPr/>
                        <a:t>TFLOPS</a:t>
                      </a:r>
                      <a:r>
                        <a:rPr/>
                        <a:t> </a:t>
                      </a:r>
                      <a:r>
                        <a:rPr/>
                        <a:t>after</a:t>
                      </a:r>
                      <a:r>
                        <a:rPr/>
                        <a:t> </a:t>
                      </a:r>
                      <a:r>
                        <a:rPr/>
                        <a:t>preamble</a:t>
                      </a:r>
                      <a:r>
                        <a:rPr/>
                        <a:t> </a:t>
                      </a:r>
                      <a:r>
                        <a:rPr/>
                        <a:t>strip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With</a:t>
                      </a:r>
                      <a:r>
                        <a:rPr/>
                        <a:t> </a:t>
                      </a:r>
                      <a:r>
                        <a:rPr/>
                        <a:t>300+</a:t>
                      </a:r>
                      <a:r>
                        <a:rPr/>
                        <a:t> </a:t>
                      </a:r>
                      <a:r>
                        <a:rPr/>
                        <a:t>extra</a:t>
                      </a:r>
                      <a:r>
                        <a:rPr/>
                        <a:t> </a:t>
                      </a:r>
                      <a:r>
                        <a:rPr/>
                        <a:t>types,</a:t>
                      </a:r>
                      <a:r>
                        <a:rPr/>
                        <a:t> </a:t>
                      </a:r>
                      <a:r>
                        <a:rPr/>
                        <a:t>IGC</a:t>
                      </a:r>
                      <a:r>
                        <a:rPr/>
                        <a:t> </a:t>
                      </a:r>
                      <a:r>
                        <a:rPr/>
                        <a:t>optimization</a:t>
                      </a:r>
                      <a:r>
                        <a:rPr/>
                        <a:t> </a:t>
                      </a:r>
                      <a:r>
                        <a:rPr/>
                        <a:t>was</a:t>
                      </a:r>
                      <a:r>
                        <a:rPr/>
                        <a:t> </a:t>
                      </a:r>
                      <a:r>
                        <a:rPr/>
                        <a:t>conservative.</a:t>
                      </a:r>
                      <a:r>
                        <a:rPr/>
                        <a:t> </a:t>
                      </a:r>
                      <a:r>
                        <a:rPr/>
                        <a:t>Stripping</a:t>
                      </a:r>
                      <a:r>
                        <a:rPr/>
                        <a:t> </a:t>
                      </a:r>
                      <a:r>
                        <a:rPr/>
                        <a:t>→</a:t>
                      </a:r>
                      <a:r>
                        <a:rPr/>
                        <a:t> </a:t>
                      </a:r>
                      <a:r>
                        <a:rPr/>
                        <a:t>only</a:t>
                      </a:r>
                      <a:r>
                        <a:rPr/>
                        <a:t> </a:t>
                      </a:r>
                      <a:r>
                        <a:rPr/>
                        <a:t>batch</a:t>
                      </a:r>
                      <a:r>
                        <a:rPr/>
                        <a:t> </a:t>
                      </a:r>
                      <a:r>
                        <a:rPr/>
                        <a:t>types</a:t>
                      </a:r>
                      <a:r>
                        <a:rPr/>
                        <a:t> </a:t>
                      </a:r>
                      <a:r>
                        <a:rPr/>
                        <a:t>→</a:t>
                      </a:r>
                      <a:r>
                        <a:rPr/>
                        <a:t> </a:t>
                      </a:r>
                      <a:r>
                        <a:rPr/>
                        <a:t>IGC</a:t>
                      </a:r>
                      <a:r>
                        <a:rPr/>
                        <a:t> </a:t>
                      </a:r>
                      <a:r>
                        <a:rPr/>
                        <a:t>aggressive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Strip</a:t>
                      </a:r>
                      <a:r>
                        <a:rPr/>
                        <a:t> </a:t>
                      </a:r>
                      <a:r>
                        <a:rPr/>
                        <a:t>preamble</a:t>
                      </a:r>
                      <a:r>
                        <a:rPr/>
                        <a:t> </a:t>
                      </a:r>
                      <a:r>
                        <a:rPr/>
                        <a:t>before</a:t>
                      </a:r>
                      <a:r>
                        <a:rPr/>
                        <a:t> </a:t>
                      </a:r>
                      <a:r>
                        <a:rPr/>
                        <a:t>generating</a:t>
                      </a:r>
                      <a:r>
                        <a:rPr/>
                        <a:t> </a:t>
                      </a:r>
                      <a:r>
                        <a:rPr/>
                        <a:t>batch</a:t>
                      </a:r>
                      <a:r>
                        <a:rPr/>
                        <a:t> </a:t>
                      </a:r>
                      <a:r>
                        <a:rPr/>
                        <a:t>declares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>
                          <a:latin typeface="Courier"/>
                        </a:rPr>
                        <a:t>b73b4a45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Slide 11: B70 Results — Key Findings</a:t>
            </a:r>
          </a:p>
          <a:p>
            <a:pPr lvl="0" marL="0" indent="0">
              <a:buNone/>
            </a:pPr>
            <a:r>
              <a:rPr b="1"/>
              <a:t>Top 10 kernels (8192×4096×1536, BF16):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8400"/>
                <a:gridCol w="1168400"/>
                <a:gridCol w="1168400"/>
                <a:gridCol w="1168400"/>
                <a:gridCol w="1168400"/>
                <a:gridCol w="1168400"/>
                <a:gridCol w="1168400"/>
              </a:tblGrid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TFLOPS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Kernel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Layout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Tile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SG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 b="1"/>
                        <a:t>154.9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Gemm_128×128×32_SG2×4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 b="1"/>
                        <a:t>RRR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128×128×32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2×4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149.6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Gemm_128×256×32_SG4×4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 b="1"/>
                        <a:t>RRR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128×256×32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4×4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149.2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Gemm_256×128×32_SG4×4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 b="1"/>
                        <a:t>RRR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256×128×32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4×4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147.5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Gemm_128×128×32_SG2×4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RCR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128×128×32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2×4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147.5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Gemm_256×128×32_SG8×2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 b="1"/>
                        <a:t>RRR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256×128×32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8×2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146.6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Gemm_256×128×32_SG4×4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RCR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256×128×32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4×4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145.6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GemmExhaustive_128×256×32_SG2×8_ST2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RCR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128×256×32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2×8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144.3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DataParallel_256×256×32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RCR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256×256×32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8×4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144.2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SplitK_256×256×32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RCR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256×256×32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8×4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142.3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StreamK_256×256×32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RCR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256×256×32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8×4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 b="1"/>
              <a:t>Scheduler comparison at 256×256×32 SG8×4 (same compute):</a:t>
            </a:r>
            <a:r>
              <a:rPr/>
              <a:t> - Gemm: 136.5 → DP: </a:t>
            </a:r>
            <a:r>
              <a:rPr b="1"/>
              <a:t>144.3</a:t>
            </a:r>
            <a:r>
              <a:rPr/>
              <a:t> (+5.7%) → SplitK: </a:t>
            </a:r>
            <a:r>
              <a:rPr b="1"/>
              <a:t>144.2</a:t>
            </a:r>
            <a:r>
              <a:rPr/>
              <a:t> (+5.6%) → StreamK: </a:t>
            </a:r>
            <a:r>
              <a:rPr b="1"/>
              <a:t>142.3</a:t>
            </a:r>
            <a:r>
              <a:rPr/>
              <a:t> (+4.2%) - All within 1.4% of each other — scheduler choice matters less at large GEMM</a:t>
            </a:r>
          </a:p>
          <a:p>
            <a:pPr lvl="0" marL="0" indent="0">
              <a:buNone/>
            </a:pPr>
            <a:r>
              <a:rPr b="1"/>
              <a:t>RRR vs RCR (same 128×128×32 SG2×4):</a:t>
            </a:r>
            <a:r>
              <a:rPr/>
              <a:t> RRR 154.9 &gt; RCR 147.5 (+5.0%)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Slide 12: ALI Performance Comparison</a:t>
            </a:r>
          </a:p>
          <a:p>
            <a:pPr lvl="0" marL="0" indent="0">
              <a:buNone/>
            </a:pPr>
            <a:r>
              <a:rPr b="1"/>
              <a:t>B70 (BMG G31, this work) vs Previous ALI Generation: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ALI</a:t>
                      </a:r>
                      <a:r>
                        <a:rPr/>
                        <a:t> </a:t>
                      </a:r>
                      <a:r>
                        <a:rPr/>
                        <a:t>Gen</a:t>
                      </a:r>
                      <a:r>
                        <a:rPr/>
                        <a:t> </a:t>
                      </a:r>
                      <a:r>
                        <a:rPr/>
                        <a:t>(est.)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B70</a:t>
                      </a:r>
                      <a:r>
                        <a:rPr/>
                        <a:t> </a:t>
                      </a:r>
                      <a:r>
                        <a:rPr/>
                        <a:t>(BMG</a:t>
                      </a:r>
                      <a:r>
                        <a:rPr/>
                        <a:t> </a:t>
                      </a:r>
                      <a:r>
                        <a:rPr/>
                        <a:t>G31)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Improvement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Peak</a:t>
                      </a:r>
                      <a:r>
                        <a:rPr/>
                        <a:t> </a:t>
                      </a:r>
                      <a:r>
                        <a:rPr/>
                        <a:t>TFLOPS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~130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 b="1"/>
                        <a:t>154.9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+19%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Mean</a:t>
                      </a:r>
                      <a:r>
                        <a:rPr/>
                        <a:t> </a:t>
                      </a:r>
                      <a:r>
                        <a:rPr/>
                        <a:t>TFLOPS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~65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 b="1"/>
                        <a:t>76.3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+17%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Kernels</a:t>
                      </a:r>
                      <a:r>
                        <a:rPr/>
                        <a:t> </a:t>
                      </a:r>
                      <a:r>
                        <a:rPr/>
                        <a:t>screened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~800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 b="1"/>
                        <a:t>1,772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+122%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Batch</a:t>
                      </a:r>
                      <a:r>
                        <a:rPr/>
                        <a:t> </a:t>
                      </a:r>
                      <a:r>
                        <a:rPr/>
                        <a:t>compile</a:t>
                      </a:r>
                      <a:r>
                        <a:rPr/>
                        <a:t> </a:t>
                      </a:r>
                      <a:r>
                        <a:rPr/>
                        <a:t>time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30+</a:t>
                      </a:r>
                      <a:r>
                        <a:rPr/>
                        <a:t> </a:t>
                      </a:r>
                      <a:r>
                        <a:rPr/>
                        <a:t>min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 b="1"/>
                        <a:t>33</a:t>
                      </a:r>
                      <a:r>
                        <a:rPr b="1"/>
                        <a:t> </a:t>
                      </a:r>
                      <a:r>
                        <a:rPr b="1"/>
                        <a:t>sec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 b="1"/>
                        <a:t>54×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Full</a:t>
                      </a:r>
                      <a:r>
                        <a:rPr/>
                        <a:t> </a:t>
                      </a:r>
                      <a:r>
                        <a:rPr/>
                        <a:t>run</a:t>
                      </a:r>
                      <a:r>
                        <a:rPr/>
                        <a:t> </a:t>
                      </a:r>
                      <a:r>
                        <a:rPr/>
                        <a:t>time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~48h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 b="1"/>
                        <a:t>~22h</a:t>
                      </a:r>
                      <a:r>
                        <a:rPr b="1"/>
                        <a:t> </a:t>
                      </a:r>
                      <a:r>
                        <a:rPr b="1"/>
                        <a:t>(1</a:t>
                      </a:r>
                      <a:r>
                        <a:rPr b="1"/>
                        <a:t> </a:t>
                      </a:r>
                      <a:r>
                        <a:rPr b="1"/>
                        <a:t>GPU)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2.2×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Batches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~400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 b="1"/>
                        <a:t>886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+122%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RRR</a:t>
                      </a:r>
                      <a:r>
                        <a:rPr/>
                        <a:t> </a:t>
                      </a:r>
                      <a:r>
                        <a:rPr/>
                        <a:t>coverage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partial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 b="1"/>
                        <a:t>full</a:t>
                      </a:r>
                      <a:r>
                        <a:rPr/>
                        <a:t> </a:t>
                      </a:r>
                      <a:r>
                        <a:rPr/>
                        <a:t>(684</a:t>
                      </a:r>
                      <a:r>
                        <a:rPr/>
                        <a:t> </a:t>
                      </a:r>
                      <a:r>
                        <a:rPr/>
                        <a:t>GE)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 b="1"/>
              <a:t>Key enablers for B70 improvement:</a:t>
            </a:r>
            <a:r>
              <a:rPr/>
              <a:t> 1. </a:t>
            </a:r>
            <a:r>
              <a:rPr b="1"/>
              <a:t>Perf flags baked at compile</a:t>
            </a:r>
            <a:r>
              <a:rPr/>
              <a:t>: </a:t>
            </a:r>
            <a:r>
              <a:rPr>
                <a:latin typeface="Courier"/>
              </a:rPr>
              <a:t>IGC_VectorAliasBBThreshold=10000</a:t>
            </a:r>
            <a:r>
              <a:rPr/>
              <a:t> + </a:t>
            </a:r>
            <a:r>
              <a:rPr>
                <a:latin typeface="Courier"/>
              </a:rPr>
              <a:t>-cl-intel-256-GRF-per-thread</a:t>
            </a:r>
            <a:r>
              <a:rPr/>
              <a:t> 2. </a:t>
            </a:r>
            <a:r>
              <a:rPr b="1"/>
              <a:t>Modern DPAS atom</a:t>
            </a:r>
            <a:r>
              <a:rPr/>
              <a:t>: </a:t>
            </a:r>
            <a:r>
              <a:rPr>
                <a:latin typeface="Courier"/>
              </a:rPr>
              <a:t>XE_DPAS_TT&lt;8, float, cute::bfloat16_t&gt;</a:t>
            </a:r>
            <a:r>
              <a:rPr/>
              <a:t> replacing legacy </a:t>
            </a:r>
            <a:r>
              <a:rPr>
                <a:latin typeface="Courier"/>
              </a:rPr>
              <a:t>XE_8x16x16_F32BF16BF16F32_TT</a:t>
            </a:r>
            <a:r>
              <a:rPr/>
              <a:t> 3. </a:t>
            </a:r>
            <a:r>
              <a:rPr b="1"/>
              <a:t>gen_mini preamble strip</a:t>
            </a:r>
            <a:r>
              <a:rPr/>
              <a:t>: IGC optimization quality improved 4-6 TFLOPS 4. </a:t>
            </a:r>
            <a:r>
              <a:rPr b="1"/>
              <a:t>RRR layout fully explored</a:t>
            </a:r>
            <a:r>
              <a:rPr/>
              <a:t>: previously only RCR was exhaustive 5. </a:t>
            </a:r>
            <a:r>
              <a:rPr b="1"/>
              <a:t>StreamK/SplitK/DP</a:t>
            </a:r>
            <a:r>
              <a:rPr/>
              <a:t>: previously untested, now 81+81 variants each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Slide 13: Incremental Screening &amp; Checkpoint Recovery</a:t>
            </a:r>
          </a:p>
          <a:p>
            <a:pPr lvl="0" marL="0" indent="0">
              <a:buNone/>
            </a:pPr>
            <a:r>
              <a:rPr b="1"/>
              <a:t>Problem:</a:t>
            </a:r>
            <a:r>
              <a:rPr/>
              <a:t> 886-batch screening takes ~22 hours. Hardware crash or SSH disconnect loses all progress.</a:t>
            </a:r>
          </a:p>
          <a:p>
            <a:pPr lvl="0" marL="0" indent="0">
              <a:buNone/>
            </a:pPr>
            <a:r>
              <a:rPr b="1"/>
              <a:t>Solution implemented in </a:t>
            </a:r>
            <a:r>
              <a:rPr b="1">
                <a:latin typeface="Courier"/>
              </a:rPr>
              <a:t>run_seq.sh</a:t>
            </a:r>
            <a:r>
              <a:rPr b="1"/>
              <a:t>:</a:t>
            </a:r>
            <a:r>
              <a:rPr/>
              <a:t> - Results written to </a:t>
            </a:r>
            <a:r>
              <a:rPr>
                <a:latin typeface="Courier"/>
              </a:rPr>
              <a:t>$RESULTS_DIR/batch_XXXX_gpuX.csv</a:t>
            </a:r>
            <a:r>
              <a:rPr/>
              <a:t> immediately after each batch - No global state — each batch is independent - Resume by checking which </a:t>
            </a:r>
            <a:r>
              <a:rPr>
                <a:latin typeface="Courier"/>
              </a:rPr>
              <a:t>batch_*.csv</a:t>
            </a:r>
            <a:r>
              <a:rPr/>
              <a:t> files exist: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Resume from last completed batch:</a:t>
            </a:r>
            <a:br/>
            <a:r>
              <a:rPr>
                <a:solidFill>
                  <a:srgbClr val="19177C"/>
                </a:solidFill>
                <a:latin typeface="Courier"/>
              </a:rPr>
              <a:t>LAST_DONE=$(</a:t>
            </a:r>
            <a:r>
              <a:rPr>
                <a:solidFill>
                  <a:srgbClr val="06287E"/>
                </a:solidFill>
                <a:latin typeface="Courier"/>
              </a:rPr>
              <a:t>ls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$RESULTS_DIR</a:t>
            </a:r>
            <a:r>
              <a:rPr>
                <a:latin typeface="Courier"/>
              </a:rPr>
              <a:t>/*.csv </a:t>
            </a:r>
            <a:r>
              <a:rPr>
                <a:solidFill>
                  <a:srgbClr val="666666"/>
                </a:solidFill>
                <a:latin typeface="Courier"/>
              </a:rPr>
              <a:t>2&gt;</a:t>
            </a:r>
            <a:r>
              <a:rPr>
                <a:latin typeface="Courier"/>
              </a:rPr>
              <a:t>/dev/null </a:t>
            </a:r>
            <a:r>
              <a:rPr b="1">
                <a:solidFill>
                  <a:srgbClr val="007020"/>
                </a:solidFill>
                <a:latin typeface="Courier"/>
              </a:rPr>
              <a:t>|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tail</a:t>
            </a:r>
            <a:r>
              <a:rPr>
                <a:latin typeface="Courier"/>
              </a:rPr>
              <a:t> -1 </a:t>
            </a:r>
            <a:r>
              <a:rPr b="1">
                <a:solidFill>
                  <a:srgbClr val="007020"/>
                </a:solidFill>
                <a:latin typeface="Courier"/>
              </a:rPr>
              <a:t>|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grep</a:t>
            </a:r>
            <a:r>
              <a:rPr>
                <a:latin typeface="Courier"/>
              </a:rPr>
              <a:t> -o </a:t>
            </a:r>
            <a:r>
              <a:rPr>
                <a:solidFill>
                  <a:srgbClr val="4070A0"/>
                </a:solidFill>
                <a:latin typeface="Courier"/>
              </a:rPr>
              <a:t>"batch_[0-9]*"</a:t>
            </a:r>
            <a:r>
              <a:rPr>
                <a:solidFill>
                  <a:srgbClr val="19177C"/>
                </a:solidFill>
                <a:latin typeface="Courier"/>
              </a:rPr>
              <a:t>)</a:t>
            </a:r>
            <a:br/>
            <a:r>
              <a:rPr>
                <a:solidFill>
                  <a:srgbClr val="19177C"/>
                </a:solidFill>
                <a:latin typeface="Courier"/>
              </a:rPr>
              <a:t>START_FROM=$((</a:t>
            </a:r>
            <a:r>
              <a:rPr>
                <a:latin typeface="Courier"/>
              </a:rPr>
              <a:t>10#</a:t>
            </a:r>
            <a:r>
              <a:rPr>
                <a:solidFill>
                  <a:srgbClr val="19177C"/>
                </a:solidFill>
                <a:latin typeface="Courier"/>
              </a:rPr>
              <a:t>${LAST_DONE#</a:t>
            </a:r>
            <a:r>
              <a:rPr>
                <a:latin typeface="Courier"/>
              </a:rPr>
              <a:t>batch_</a:t>
            </a:r>
            <a:r>
              <a:rPr>
                <a:solidFill>
                  <a:srgbClr val="19177C"/>
                </a:solidFill>
                <a:latin typeface="Courier"/>
              </a:rPr>
              <a:t>}</a:t>
            </a:r>
            <a:r>
              <a:rPr>
                <a:latin typeface="Courier"/>
              </a:rPr>
              <a:t> + 1</a:t>
            </a:r>
            <a:r>
              <a:rPr>
                <a:solidFill>
                  <a:srgbClr val="19177C"/>
                </a:solidFill>
                <a:latin typeface="Courier"/>
              </a:rPr>
              <a:t>))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i in </a:t>
            </a:r>
            <a:r>
              <a:rPr>
                <a:solidFill>
                  <a:srgbClr val="19177C"/>
                </a:solidFill>
                <a:latin typeface="Courier"/>
              </a:rPr>
              <a:t>$(</a:t>
            </a:r>
            <a:r>
              <a:rPr>
                <a:solidFill>
                  <a:srgbClr val="06287E"/>
                </a:solidFill>
                <a:latin typeface="Courier"/>
              </a:rPr>
              <a:t>seq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$START_FROM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$((</a:t>
            </a:r>
            <a:r>
              <a:rPr>
                <a:latin typeface="Courier"/>
              </a:rPr>
              <a:t>BATCHES-1</a:t>
            </a:r>
            <a:r>
              <a:rPr>
                <a:solidFill>
                  <a:srgbClr val="19177C"/>
                </a:solidFill>
                <a:latin typeface="Courier"/>
              </a:rPr>
              <a:t>)))</a:t>
            </a:r>
            <a:r>
              <a:rPr b="1">
                <a:solidFill>
                  <a:srgbClr val="007020"/>
                </a:solidFill>
                <a:latin typeface="Courier"/>
              </a:rPr>
              <a:t>;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do</a:t>
            </a:r>
            <a:r>
              <a:rPr>
                <a:latin typeface="Courier"/>
              </a:rPr>
              <a:t> ... done</a:t>
            </a:r>
          </a:p>
          <a:p>
            <a:pPr lvl="0" marL="0" indent="0">
              <a:buNone/>
            </a:pPr>
            <a:r>
              <a:rPr b="1"/>
              <a:t>File-level isolation:</a:t>
            </a:r>
          </a:p>
          <a:p>
            <a:pPr lvl="0" indent="0">
              <a:buNone/>
            </a:pPr>
            <a:r>
              <a:rPr>
                <a:latin typeface="Courier"/>
              </a:rPr>
              <a:t>results_final_full/
  batch_0000_gpu0.csv    # 2 kernels, completed
  batch_0001_gpu1.csv    # 2 kernels, completed
  ...
  batch_0885_gpu1.csv    # 1 kernel, completed</a:t>
            </a:r>
          </a:p>
          <a:p>
            <a:pPr lvl="0" marL="0" indent="0">
              <a:buNone/>
            </a:pPr>
            <a:r>
              <a:rPr b="1"/>
              <a:t>Recovery procedure:</a:t>
            </a:r>
            <a:r>
              <a:rPr/>
              <a:t> 1. </a:t>
            </a:r>
            <a:r>
              <a:rPr>
                <a:latin typeface="Courier"/>
              </a:rPr>
              <a:t>git fetch &amp;&amp; git reset --hard origin/main</a:t>
            </a:r>
            <a:r>
              <a:rPr/>
              <a:t> (clean source) 2. Restore </a:t>
            </a:r>
            <a:r>
              <a:rPr>
                <a:latin typeface="Courier"/>
              </a:rPr>
              <a:t>_deps/</a:t>
            </a:r>
            <a:r>
              <a:rPr/>
              <a:t> headers 3. Run with </a:t>
            </a:r>
            <a:r>
              <a:rPr>
                <a:latin typeface="Courier"/>
              </a:rPr>
              <a:t>BATCHES=all</a:t>
            </a:r>
            <a:r>
              <a:rPr/>
              <a:t> — existing CSVs not overwritten (but binary regenerated each time)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Slide 14: Automatic Fault Recovery</a:t>
            </a:r>
          </a:p>
          <a:p>
            <a:pPr lvl="0" marL="0" indent="0">
              <a:buNone/>
            </a:pPr>
            <a:r>
              <a:rPr b="1"/>
              <a:t>Fault types and auto-handling: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Fault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Recovery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Implemented?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Compile</a:t>
                      </a:r>
                      <a:r>
                        <a:rPr/>
                        <a:t> </a:t>
                      </a:r>
                      <a:r>
                        <a:rPr/>
                        <a:t>error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>
                          <a:latin typeface="Courier"/>
                        </a:rPr>
                        <a:t>[ ! -s "$OBJ" 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Restore</a:t>
                      </a:r>
                      <a:r>
                        <a:rPr/>
                        <a:t> </a:t>
                      </a:r>
                      <a:r>
                        <a:rPr/>
                        <a:t>source,</a:t>
                      </a:r>
                      <a:r>
                        <a:rPr/>
                        <a:t> </a:t>
                      </a:r>
                      <a:r>
                        <a:rPr/>
                        <a:t>skip</a:t>
                      </a:r>
                      <a:r>
                        <a:rPr/>
                        <a:t> </a:t>
                      </a:r>
                      <a:r>
                        <a:rPr/>
                        <a:t>batch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✅</a:t>
                      </a:r>
                      <a:r>
                        <a:rPr/>
                        <a:t> </a:t>
                      </a:r>
                      <a:r>
                        <a:rPr/>
                        <a:t>L49–53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Link</a:t>
                      </a:r>
                      <a:r>
                        <a:rPr/>
                        <a:t> </a:t>
                      </a:r>
                      <a:r>
                        <a:rPr/>
                        <a:t>error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>
                          <a:latin typeface="Courier"/>
                        </a:rPr>
                        <a:t>[ ! -x "$BIN" 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Restore</a:t>
                      </a:r>
                      <a:r>
                        <a:rPr/>
                        <a:t> </a:t>
                      </a:r>
                      <a:r>
                        <a:rPr/>
                        <a:t>source,</a:t>
                      </a:r>
                      <a:r>
                        <a:rPr/>
                        <a:t> </a:t>
                      </a:r>
                      <a:r>
                        <a:rPr/>
                        <a:t>skip</a:t>
                      </a:r>
                      <a:r>
                        <a:rPr/>
                        <a:t> </a:t>
                      </a:r>
                      <a:r>
                        <a:rPr/>
                        <a:t>batch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✅</a:t>
                      </a:r>
                      <a:r>
                        <a:rPr/>
                        <a:t> </a:t>
                      </a:r>
                      <a:r>
                        <a:rPr/>
                        <a:t>L64–68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Kernel</a:t>
                      </a:r>
                      <a:r>
                        <a:rPr/>
                        <a:t> </a:t>
                      </a:r>
                      <a:r>
                        <a:rPr/>
                        <a:t>timeout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>
                          <a:latin typeface="Courier"/>
                        </a:rPr>
                        <a:t>timeout 120</a:t>
                      </a:r>
                      <a:r>
                        <a:rPr/>
                        <a:t> </a:t>
                      </a:r>
                      <a:r>
                        <a:rPr/>
                        <a:t>wrapper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Record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TIMEOUT</a:t>
                      </a:r>
                      <a:r>
                        <a:rPr/>
                        <a:t> </a:t>
                      </a:r>
                      <a:r>
                        <a:rPr/>
                        <a:t>in</a:t>
                      </a:r>
                      <a:r>
                        <a:rPr/>
                        <a:t> </a:t>
                      </a:r>
                      <a:r>
                        <a:rPr/>
                        <a:t>CSV,</a:t>
                      </a:r>
                      <a:r>
                        <a:rPr/>
                        <a:t> </a:t>
                      </a:r>
                      <a:r>
                        <a:rPr/>
                        <a:t>continue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✅</a:t>
                      </a:r>
                      <a:r>
                        <a:rPr/>
                        <a:t> </a:t>
                      </a:r>
                      <a:r>
                        <a:rPr/>
                        <a:t>L72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GPU</a:t>
                      </a:r>
                      <a:r>
                        <a:rPr/>
                        <a:t> </a:t>
                      </a:r>
                      <a:r>
                        <a:rPr/>
                        <a:t>hang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SYCL</a:t>
                      </a:r>
                      <a:r>
                        <a:rPr/>
                        <a:t> </a:t>
                      </a:r>
                      <a:r>
                        <a:rPr/>
                        <a:t>runtime</a:t>
                      </a:r>
                      <a:r>
                        <a:rPr/>
                        <a:t> </a:t>
                      </a:r>
                      <a:r>
                        <a:rPr/>
                        <a:t>exception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>
                          <a:latin typeface="Courier"/>
                        </a:rPr>
                        <a:t>|| true</a:t>
                      </a:r>
                      <a:r>
                        <a:rPr/>
                        <a:t> </a:t>
                      </a:r>
                      <a:r>
                        <a:rPr/>
                        <a:t>capture,</a:t>
                      </a:r>
                      <a:r>
                        <a:rPr/>
                        <a:t> </a:t>
                      </a:r>
                      <a:r>
                        <a:rPr/>
                        <a:t>record</a:t>
                      </a:r>
                      <a:r>
                        <a:rPr/>
                        <a:t> </a:t>
                      </a:r>
                      <a:r>
                        <a:rPr/>
                        <a:t>0</a:t>
                      </a:r>
                      <a:r>
                        <a:rPr/>
                        <a:t> </a:t>
                      </a:r>
                      <a:r>
                        <a:rPr/>
                        <a:t>TFLOPS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✅</a:t>
                      </a:r>
                      <a:r>
                        <a:rPr/>
                        <a:t> </a:t>
                      </a:r>
                      <a:r>
                        <a:rPr/>
                        <a:t>L72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Source</a:t>
                      </a:r>
                      <a:r>
                        <a:rPr/>
                        <a:t> </a:t>
                      </a:r>
                      <a:r>
                        <a:rPr/>
                        <a:t>corruption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>
                          <a:latin typeface="Courier"/>
                        </a:rPr>
                        <a:t>git checkout</a:t>
                      </a:r>
                      <a:r>
                        <a:rPr/>
                        <a:t> </a:t>
                      </a:r>
                      <a:r>
                        <a:rPr/>
                        <a:t>at</a:t>
                      </a:r>
                      <a:r>
                        <a:rPr/>
                        <a:t> </a:t>
                      </a:r>
                      <a:r>
                        <a:rPr/>
                        <a:t>start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Restore</a:t>
                      </a:r>
                      <a:r>
                        <a:rPr/>
                        <a:t> </a:t>
                      </a:r>
                      <a:r>
                        <a:rPr/>
                        <a:t>from</a:t>
                      </a:r>
                      <a:r>
                        <a:rPr/>
                        <a:t> </a:t>
                      </a:r>
                      <a:r>
                        <a:rPr/>
                        <a:t>git</a:t>
                      </a:r>
                      <a:r>
                        <a:rPr/>
                        <a:t> </a:t>
                      </a:r>
                      <a:r>
                        <a:rPr/>
                        <a:t>every</a:t>
                      </a:r>
                      <a:r>
                        <a:rPr/>
                        <a:t> </a:t>
                      </a:r>
                      <a:r>
                        <a:rPr/>
                        <a:t>batch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✅</a:t>
                      </a:r>
                      <a:r>
                        <a:rPr/>
                        <a:t> </a:t>
                      </a:r>
                      <a:r>
                        <a:rPr/>
                        <a:t>L22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 b="1">
                <a:latin typeface="Courier"/>
              </a:rPr>
              <a:t>.DELETE_ON_ERROR</a:t>
            </a:r>
            <a:r>
              <a:rPr b="1"/>
              <a:t> mitigation: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cmake deletes .o when link target fails</a:t>
            </a:r>
            <a:br/>
            <a:r>
              <a:rPr i="1">
                <a:solidFill>
                  <a:srgbClr val="60A0B0"/>
                </a:solidFill>
                <a:latin typeface="Courier"/>
              </a:rPr>
              <a:t># Fix: remove the directive from generated build.make</a:t>
            </a:r>
            <a:br/>
            <a:r>
              <a:rPr>
                <a:solidFill>
                  <a:srgbClr val="06287E"/>
                </a:solidFill>
                <a:latin typeface="Courier"/>
              </a:rPr>
              <a:t>sed</a:t>
            </a:r>
            <a:r>
              <a:rPr>
                <a:latin typeface="Courier"/>
              </a:rPr>
              <a:t> -i </a:t>
            </a:r>
            <a:r>
              <a:rPr>
                <a:solidFill>
                  <a:srgbClr val="4070A0"/>
                </a:solidFill>
                <a:latin typeface="Courier"/>
              </a:rPr>
              <a:t>'/^\.DELETE_ON_ERROR/d'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$BDIR</a:t>
            </a:r>
            <a:r>
              <a:rPr>
                <a:latin typeface="Courier"/>
              </a:rPr>
              <a:t>/.../build.make</a:t>
            </a:r>
          </a:p>
          <a:p>
            <a:pPr lvl="0" marL="0" indent="0">
              <a:buNone/>
            </a:pPr>
            <a:r>
              <a:rPr b="1"/>
              <a:t>Per-batch source isolation: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cp</a:t>
            </a:r>
            <a:r>
              <a:rPr>
                <a:latin typeface="Courier"/>
              </a:rPr>
              <a:t> benchmarks_sycl.hpp /tmp/bak_hpp    # backup before modify</a:t>
            </a:r>
            <a:br/>
            <a:r>
              <a:rPr i="1">
                <a:solidFill>
                  <a:srgbClr val="60A0B0"/>
                </a:solidFill>
                <a:latin typeface="Courier"/>
              </a:rPr>
              <a:t># ... generate + compile + screen ...</a:t>
            </a:r>
            <a:br/>
            <a:r>
              <a:rPr>
                <a:solidFill>
                  <a:srgbClr val="06287E"/>
                </a:solidFill>
                <a:latin typeface="Courier"/>
              </a:rPr>
              <a:t>cp</a:t>
            </a:r>
            <a:r>
              <a:rPr>
                <a:latin typeface="Courier"/>
              </a:rPr>
              <a:t> /tmp/bak_hpp benchmarks_sycl.hpp    # restore after</a:t>
            </a:r>
            <a:br/>
            <a:r>
              <a:rPr>
                <a:solidFill>
                  <a:srgbClr val="06287E"/>
                </a:solidFill>
                <a:latin typeface="Courier"/>
              </a:rPr>
              <a:t>rm</a:t>
            </a:r>
            <a:r>
              <a:rPr>
                <a:latin typeface="Courier"/>
              </a:rPr>
              <a:t> -f benchmarks_sycl.hpp.cache        # force cache invalidation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Slide 15: Future Work</a:t>
            </a:r>
          </a:p>
          <a:p>
            <a:pPr lvl="0" marL="0" indent="0">
              <a:buNone/>
            </a:pPr>
            <a:r>
              <a:rPr b="1"/>
              <a:t>1. Compilation efficiency (current: 33s/batch)</a:t>
            </a:r>
            <a:r>
              <a:rPr/>
              <a:t> - </a:t>
            </a:r>
            <a:r>
              <a:rPr b="1"/>
              <a:t>Pre-compiled template cache</a:t>
            </a:r>
            <a:r>
              <a:rPr/>
              <a:t>: compile </a:t>
            </a:r>
            <a:r>
              <a:rPr>
                <a:latin typeface="Courier"/>
              </a:rPr>
              <a:t>GemmConfiguration</a:t>
            </a:r>
            <a:r>
              <a:rPr/>
              <a:t> template once, link per-batch - </a:t>
            </a:r>
            <a:r>
              <a:rPr b="1"/>
              <a:t>Parallel batch compilation</a:t>
            </a:r>
            <a:r>
              <a:rPr/>
              <a:t>: 4 GPUs → 4 simultaneous </a:t>
            </a:r>
            <a:r>
              <a:rPr>
                <a:latin typeface="Courier"/>
              </a:rPr>
              <a:t>make -j32</a:t>
            </a:r>
            <a:r>
              <a:rPr/>
              <a:t> instances - </a:t>
            </a:r>
            <a:r>
              <a:rPr b="1"/>
              <a:t>Incremental make</a:t>
            </a:r>
            <a:r>
              <a:rPr/>
              <a:t>: only recompile when </a:t>
            </a:r>
            <a:r>
              <a:rPr>
                <a:latin typeface="Courier"/>
              </a:rPr>
              <a:t>benchmarks_sycl.hpp</a:t>
            </a:r>
            <a:r>
              <a:rPr/>
              <a:t> content hash changes</a:t>
            </a:r>
          </a:p>
          <a:p>
            <a:pPr lvl="0" marL="0" indent="0">
              <a:buNone/>
            </a:pPr>
            <a:r>
              <a:rPr b="1"/>
              <a:t>2. Multi-GPU scaling</a:t>
            </a:r>
            <a:r>
              <a:rPr/>
              <a:t> - Current: GPU 0-3 round-robin, sequential - Target: 4 parallel workers, each with own cmake build dir - Script: </a:t>
            </a:r>
            <a:r>
              <a:rPr>
                <a:latin typeface="Courier"/>
              </a:rPr>
              <a:t>PARALLEL=4 BATCHES=all bash tools/run_seq.sh</a:t>
            </a:r>
            <a:r>
              <a:rPr/>
              <a:t> - Expected: 22h → 5.5h (4× speedup)</a:t>
            </a:r>
          </a:p>
          <a:p>
            <a:pPr lvl="0" marL="0" indent="0">
              <a:buNone/>
            </a:pPr>
            <a:r>
              <a:rPr b="1"/>
              <a:t>3. Data analysis &amp; hardware characterization</a:t>
            </a:r>
            <a:r>
              <a:rPr/>
              <a:t> - </a:t>
            </a:r>
            <a:r>
              <a:rPr b="1"/>
              <a:t>Occupancy-bucket analysis</a:t>
            </a:r>
            <a:r>
              <a:rPr/>
              <a:t>: compute TFLOPS vs (tile_area / sg_product) - </a:t>
            </a:r>
            <a:r>
              <a:rPr b="1"/>
              <a:t>Register pressure sweet spot</a:t>
            </a:r>
            <a:r>
              <a:rPr/>
              <a:t>: TFLOPS vs GRF usage - </a:t>
            </a:r>
            <a:r>
              <a:rPr b="1"/>
              <a:t>RRR vs RCR sensitivity</a:t>
            </a:r>
            <a:r>
              <a:rPr/>
              <a:t>: per-tile win/loss heatmap - </a:t>
            </a:r>
            <a:r>
              <a:rPr b="1"/>
              <a:t>Scheduler preference by tile size</a:t>
            </a:r>
            <a:r>
              <a:rPr/>
              <a:t>: when does StreamK beat DP?</a:t>
            </a:r>
          </a:p>
          <a:p>
            <a:pPr lvl="0" marL="0" indent="0">
              <a:buNone/>
            </a:pPr>
            <a:r>
              <a:rPr b="1"/>
              <a:t>4. Hardware-specific tuning</a:t>
            </a:r>
            <a:r>
              <a:rPr/>
              <a:t> - </a:t>
            </a:r>
            <a:r>
              <a:rPr b="1"/>
              <a:t>SplitK splits search</a:t>
            </a:r>
            <a:r>
              <a:rPr/>
              <a:t>: test splits=2 on updated driver (currently hangs) - </a:t>
            </a:r>
            <a:r>
              <a:rPr b="1"/>
              <a:t>StreamK chunk/waves</a:t>
            </a:r>
            <a:r>
              <a:rPr/>
              <a:t>: expose </a:t>
            </a:r>
            <a:r>
              <a:rPr>
                <a:latin typeface="Courier"/>
              </a:rPr>
              <a:t>PersistentTileSchedulerXeStreamKParams</a:t>
            </a:r>
            <a:r>
              <a:rPr/>
              <a:t> knobs - </a:t>
            </a:r>
            <a:r>
              <a:rPr b="1"/>
              <a:t>Prefetch toggle</a:t>
            </a:r>
            <a:r>
              <a:rPr/>
              <a:t>: </a:t>
            </a:r>
            <a:r>
              <a:rPr>
                <a:latin typeface="Courier"/>
              </a:rPr>
              <a:t>GmemTiledCopyA/B</a:t>
            </a:r>
            <a:r>
              <a:rPr/>
              <a:t> variants - </a:t>
            </a:r>
            <a:r>
              <a:rPr b="1"/>
              <a:t>GRF mode</a:t>
            </a:r>
            <a:r>
              <a:rPr/>
              <a:t>: test 128 vs 256 register modes</a:t>
            </a:r>
          </a:p>
          <a:p>
            <a:pPr lvl="0" marL="0" indent="0">
              <a:buNone/>
            </a:pPr>
            <a:r>
              <a:rPr b="1"/>
              <a:t>5. Production autotune cache</a:t>
            </a:r>
            <a:r>
              <a:rPr/>
              <a:t> - Schema: </a:t>
            </a:r>
            <a:r>
              <a:rPr>
                <a:latin typeface="Courier"/>
              </a:rPr>
              <a:t>(M,N,K,dtype,arch) → {tile, sg, stages, scheduler, splits, tflops}</a:t>
            </a:r>
            <a:r>
              <a:rPr/>
              <a:t> - Phase 1: exhaustive compute shape → top-10 per occupancy bucket - Phase 2: scheduler sweep on Phase 1 top-10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Slide 16: Summary &amp; Key Takeaways</a:t>
            </a:r>
          </a:p>
          <a:p>
            <a:pPr lvl="0" marL="0" indent="0">
              <a:buNone/>
            </a:pPr>
            <a:r>
              <a:rPr b="1"/>
              <a:t>Profiler at a glance:</a:t>
            </a:r>
            <a:r>
              <a:rPr/>
              <a:t> - </a:t>
            </a:r>
            <a:r>
              <a:rPr b="1"/>
              <a:t>6,007 lines</a:t>
            </a:r>
            <a:r>
              <a:rPr/>
              <a:t> Python + </a:t>
            </a:r>
            <a:r>
              <a:rPr b="1"/>
              <a:t>140 lines</a:t>
            </a:r>
            <a:r>
              <a:rPr/>
              <a:t> HPP generator + </a:t>
            </a:r>
            <a:r>
              <a:rPr b="1"/>
              <a:t>86 lines</a:t>
            </a:r>
            <a:r>
              <a:rPr/>
              <a:t> shell - </a:t>
            </a:r>
            <a:r>
              <a:rPr b="1"/>
              <a:t>1,772 BF16 kernels</a:t>
            </a:r>
            <a:r>
              <a:rPr/>
              <a:t> across 2 layouts × 4 schedulers × 3 stages - </a:t>
            </a:r>
            <a:r>
              <a:rPr b="1"/>
              <a:t>154.9 TFLOPS</a:t>
            </a:r>
            <a:r>
              <a:rPr/>
              <a:t> peak on B70 (8192×4096×1536)</a:t>
            </a:r>
          </a:p>
          <a:p>
            <a:pPr lvl="0" marL="0" indent="0">
              <a:buNone/>
            </a:pPr>
            <a:r>
              <a:rPr b="1"/>
              <a:t>Key innovations:</a:t>
            </a:r>
            <a:r>
              <a:rPr/>
              <a:t> 1. </a:t>
            </a:r>
            <a:r>
              <a:rPr b="1"/>
              <a:t>Hierarchical catalog</a:t>
            </a:r>
            <a:r>
              <a:rPr/>
              <a:t>: layered generation with dedup → 6 independent kernel sources 2. </a:t>
            </a:r>
            <a:r>
              <a:rPr b="1"/>
              <a:t>gen_mini preamble strip</a:t>
            </a:r>
            <a:r>
              <a:rPr/>
              <a:t>: 300→0 extra types → +4-6 TFLOPS from IGC 3. </a:t>
            </a:r>
            <a:r>
              <a:rPr b="1"/>
              <a:t>Baked perf flags</a:t>
            </a:r>
            <a:r>
              <a:rPr/>
              <a:t>: </a:t>
            </a:r>
            <a:r>
              <a:rPr>
                <a:latin typeface="Courier"/>
              </a:rPr>
              <a:t>SYCL_PROGRAM_COMPILE_OPTIONS</a:t>
            </a:r>
            <a:r>
              <a:rPr/>
              <a:t> at make time → 38× improvement 4. </a:t>
            </a:r>
            <a:r>
              <a:rPr b="1"/>
              <a:t>Fault-tolerant batch pipeline</a:t>
            </a:r>
            <a:r>
              <a:rPr/>
              <a:t>: per-batch source isolation, auto-skip on failure 5. </a:t>
            </a:r>
            <a:r>
              <a:rPr b="1"/>
              <a:t>Google Benchmark bypass</a:t>
            </a:r>
            <a:r>
              <a:rPr/>
              <a:t>: </a:t>
            </a:r>
            <a:r>
              <a:rPr>
                <a:latin typeface="Courier"/>
              </a:rPr>
              <a:t>run_direct()</a:t>
            </a:r>
            <a:r>
              <a:rPr/>
              <a:t> with 100-iteration timed loop</a:t>
            </a:r>
          </a:p>
          <a:p>
            <a:pPr lvl="0" marL="0" indent="0">
              <a:buNone/>
            </a:pPr>
            <a:r>
              <a:rPr b="1"/>
              <a:t>Hardware discoveries:</a:t>
            </a:r>
            <a:r>
              <a:rPr/>
              <a:t> - RRR layout consistently outperforms RCR (+5% to +14%) - SG 2×4 beats SG 8×4 on optimal tile (128×128×32) - SplitK splits=2 hangs on B70 (driver limitation) - All schedulers within 1.4% on large problem — scheduler matters at skinny shapes</a:t>
            </a:r>
          </a:p>
          <a:p>
            <a:pPr lvl="0" marL="0" indent="0">
              <a:buNone/>
            </a:pPr>
            <a:r>
              <a:rPr b="1"/>
              <a:t>Code:</a:t>
            </a:r>
            <a:r>
              <a:rPr/>
              <a:t> github.com/tinafengfun/sycl-tla</a:t>
            </a:r>
            <a:br/>
            <a:r>
              <a:rPr b="1"/>
              <a:t>Data:</a:t>
            </a:r>
            <a:r>
              <a:rPr/>
              <a:t> docs/screening_final.csv (992 kernels)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Office PowerPoint</Application>
  <PresentationFormat>On-screen Show (4:3)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2026-06-01T12:44:27Z</dcterms:created>
  <dcterms:modified xsi:type="dcterms:W3CDTF">2026-06-01T12:44:27Z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